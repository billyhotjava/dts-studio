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03120"/>
            <a:ext cx="137160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Decision Twins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6D6"/>
                </a:solidFill>
                <a:latin typeface="Microsoft YaHei"/>
              </a:defRPr>
            </a:pPr>
            <a:r>
              <a:t>产品功能说明书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BB"/>
                </a:solidFill>
                <a:latin typeface="Microsoft YaHei"/>
              </a:defRPr>
            </a:pPr>
            <a:r>
              <a:t>AI Decision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A7"/>
                </a:solidFill>
                <a:latin typeface="Microsoft YaHei"/>
              </a:defRPr>
            </a:pPr>
            <a:r>
              <a:t>Ontology + Intent + Agent = Decision Twins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2026  | 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产品定位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164592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DTS 是 AI 驱动的企业决策操作系统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8"/>
                </a:solidFill>
                <a:latin typeface="Microsoft YaHei"/>
              </a:defRPr>
            </a:pPr>
            <a:r>
              <a:t>不是数据中台（不卖存储/计算）| 不是 BI（不只看数据）| 不是 SaaS（不按人头卖工具）</a:t>
            </a:r>
            <a:br/>
            <a:r>
              <a:t>而是把数据资产、业务规则、行业隐性知识编织成一个能替决策者「想」的系统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核心价值公式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1097280"/>
          </a:xfrm>
          <a:prstGeom prst="roundRect">
            <a:avLst/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 位专家的创造力  ×  AI 提取能力  ×  系统化规模  =  500 倍产出放大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用户一句话完成：理解意图 → 查数据 → 分析 → 图表 → 报告 → 建议 → 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产品形态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34747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394960"/>
            <a:ext cx="34747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D6"/>
                </a:solidFill>
                <a:latin typeface="Microsoft YaHei"/>
              </a:defRPr>
            </a:pPr>
            <a:r>
              <a:t>三个前端应用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52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Pilot 决策门户</a:t>
            </a:r>
            <a:br/>
            <a:r>
              <a:t>Cortex 专家工作台</a:t>
            </a:r>
            <a:br/>
            <a:r>
              <a:t>Admin 管理控制台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5394960"/>
            <a:ext cx="34747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5394960"/>
            <a:ext cx="34747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A7"/>
                </a:solidFill>
                <a:latin typeface="Microsoft YaHei"/>
              </a:defRPr>
            </a:pPr>
            <a:r>
              <a:t>开放 API 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5852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REST (外部)</a:t>
            </a:r>
            <a:br/>
            <a:r>
              <a:t>gRPC (内部)</a:t>
            </a:r>
            <a:br/>
            <a:r>
              <a:t>SSE (流式推送)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5394960"/>
            <a:ext cx="34747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5394960"/>
            <a:ext cx="347472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8C76F"/>
                </a:solidFill>
                <a:latin typeface="Microsoft YaHei"/>
              </a:defRPr>
            </a:pPr>
            <a:r>
              <a:t>AppPack 生态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852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标准化行业能力包</a:t>
            </a:r>
            <a:br/>
            <a:r>
              <a:t>Ontology + Skill + KnowHow</a:t>
            </a:r>
            <a:br/>
            <a:r>
              <a:t>+ 配置 + UI 全栈插件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核心三元组：Ontology + Intent +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747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Microsoft YaHei"/>
              </a:defRPr>
            </a:pPr>
            <a:r>
              <a:t>Ontology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认知基座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物理世界到数字世界的映射标准</a:t>
            </a:r>
            <a:br/>
            <a:r>
              <a:t>不只是数据字典，而是包含</a:t>
            </a:r>
            <a:br/>
            <a:r>
              <a:t>实体、关系、指标、规则、操作的</a:t>
            </a:r>
            <a:br/>
            <a:r>
              <a:t>完整认知框架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188720"/>
            <a:ext cx="34747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188720"/>
            <a:ext cx="347472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9A7"/>
                </a:solidFill>
                <a:latin typeface="Microsoft YaHei"/>
              </a:defRPr>
            </a:pPr>
            <a:r>
              <a:t>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18745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意图理解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3317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自然语言到结构化决策意图</a:t>
            </a:r>
            <a:br/>
            <a:r>
              <a:t>支持多目标分解</a:t>
            </a:r>
            <a:br/>
            <a:r>
              <a:t>约束识别</a:t>
            </a:r>
            <a:br/>
            <a:r>
              <a:t>风险评估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88720"/>
            <a:ext cx="34747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47472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C76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自主执行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317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基于 LangGraph 的多步推理运行时</a:t>
            </a:r>
            <a:br/>
            <a:r>
              <a:t>自主规划执行路径</a:t>
            </a:r>
            <a:br/>
            <a:r>
              <a:t>调用技能</a:t>
            </a:r>
            <a:br/>
            <a:r>
              <a:t>生成决策解释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三者通过 DAP (DTS Agent Protocol) 协议连接，形成完整的决策闭环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49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用户说「帮我看看A3产线今天的OEE，如果低于80%就安排维保」</a:t>
            </a:r>
            <a:br/>
            <a:r>
              <a:t>→ Intent 解析为多目标 → Agent 规划执行步骤 → 查 Ontology 找指标定义 → 调 Skill 查数据</a:t>
            </a:r>
            <a:br/>
            <a:r>
              <a:t>→ 评估条件 → 触发维保审批 → 全程审计 → 流式返回结果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目标用户角色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5603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5603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1371600"/>
            <a:ext cx="914400" cy="9144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508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Microsoft YaHei"/>
              </a:defRPr>
            </a:pPr>
            <a:r>
              <a:t>决策者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高管、部门负责人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用自然语言获取分析结果</a:t>
            </a:r>
            <a:br/>
            <a:r>
              <a:t>和行动建议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使用端: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097280"/>
            <a:ext cx="25603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097280"/>
            <a:ext cx="256032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1371600"/>
            <a:ext cx="914400" cy="9144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08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Microsoft YaHei"/>
              </a:defRPr>
            </a:pPr>
            <a:r>
              <a:t>行业专家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分析师、工程师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200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建模、探索数据</a:t>
            </a:r>
            <a:br/>
            <a:r>
              <a:t>编排技能、管理知识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Microsoft YaHei"/>
              </a:defRPr>
            </a:pPr>
            <a:r>
              <a:t>使用端: Cortex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097280"/>
            <a:ext cx="25603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097280"/>
            <a:ext cx="256032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3760" y="1371600"/>
            <a:ext cx="914400" cy="914400"/>
          </a:xfrm>
          <a:prstGeom prst="ellipse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1508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C76F"/>
                </a:solidFill>
                <a:latin typeface="Microsoft YaHei"/>
              </a:defRPr>
            </a:pPr>
            <a:r>
              <a:t>IT 管理员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系统管理员、运维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管理权限、配置数据源</a:t>
            </a:r>
            <a:br/>
            <a:r>
              <a:t>监控系统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使用端: Admin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097280"/>
            <a:ext cx="25603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097280"/>
            <a:ext cx="25603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0" y="1371600"/>
            <a:ext cx="914400" cy="9144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1508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Microsoft YaHei"/>
              </a:defRPr>
            </a:pPr>
            <a:r>
              <a:t>开发者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ISV、集成商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200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开发 AppPack</a:t>
            </a:r>
            <a:br/>
            <a:r>
              <a:t>调用 API、扩展能力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使用端: ADK +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三支柱架构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4747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Microsoft YaHei"/>
              </a:defRPr>
            </a:pPr>
            <a:r>
              <a:t>dts-studio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设计中心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Ontology 可视化设计</a:t>
            </a:r>
            <a:br/>
            <a:r>
              <a:t>Skill 编排</a:t>
            </a:r>
            <a:br/>
            <a:r>
              <a:t>KnowHow 管理</a:t>
            </a:r>
            <a:br/>
            <a:r>
              <a:t>Pack 开发 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097280"/>
            <a:ext cx="34747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097280"/>
            <a:ext cx="347472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A7"/>
                </a:solidFill>
                <a:latin typeface="Microsoft YaHei"/>
              </a:defRPr>
            </a:pPr>
            <a:r>
              <a:t>dts-stack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Agent 能力中心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25 个微服务</a:t>
            </a:r>
            <a:br/>
            <a:r>
              <a:t>57 个 AI 技能</a:t>
            </a:r>
            <a:br/>
            <a:r>
              <a:t>DAP 协议运行时</a:t>
            </a:r>
            <a:br/>
            <a:r>
              <a:t>五条铁律保障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097280"/>
            <a:ext cx="34747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47472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8C76F"/>
                </a:solidFill>
                <a:latin typeface="Microsoft YaHei"/>
              </a:defRPr>
            </a:pPr>
            <a:r>
              <a:t>app-stack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客户 Agent 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行业 AppPack</a:t>
            </a:r>
            <a:br/>
            <a:r>
              <a:t>客户定制 Pack</a:t>
            </a:r>
            <a:br/>
            <a:r>
              <a:t>KnowHow 资产</a:t>
            </a:r>
            <a:br/>
            <a:r>
              <a:t>ISV 开发的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三语言协作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25603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Microsoft YaHei"/>
              </a:defRPr>
            </a:pPr>
            <a: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10 个 AI 核心服务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Agent/Intent/RAG/Eval</a:t>
            </a:r>
            <a:br/>
            <a:r>
              <a:t>全部可降级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572000"/>
            <a:ext cx="25603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Microsoft YaHei"/>
              </a:defRPr>
            </a:pPr>
            <a:r>
              <a:t>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983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10 个业务平台服务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303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CRUD/RBAC/安全/存储</a:t>
            </a:r>
            <a:br/>
            <a:r>
              <a:t>独立可运行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572000"/>
            <a:ext cx="25603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C76F"/>
                </a:solidFill>
                <a:latin typeface="Microsoft YaHei"/>
              </a:defRPr>
            </a:pPr>
            <a:r>
              <a:t>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983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 个基础设施服务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03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K8s Operator + CLI</a:t>
            </a:r>
            <a:br/>
            <a:r>
              <a:t>部署运维自动化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572000"/>
            <a:ext cx="25603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Microsoft YaHei"/>
              </a:defRPr>
            </a:pPr>
            <a:r>
              <a:t>React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983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3 个前端应用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303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Pilot + Cortex + Admin</a:t>
            </a:r>
            <a:br/>
            <a:r>
              <a:t>React 19 + Vite + shadcn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DAP 协议 — 产品核心护城河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DTS Agent Protocol: 定义 AI Agent 如何理解物理世界并执行决策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685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9728" cy="6858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44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icrosoft YaHei"/>
              </a:defRPr>
            </a:pPr>
            <a:r>
              <a:t>Layer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444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Audit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4475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决策可追溯性保障 (CloudEvents, append-only)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698480" cy="685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109728" cy="6858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219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4D"/>
                </a:solidFill>
                <a:latin typeface="Microsoft YaHei"/>
              </a:defRPr>
            </a:pPr>
            <a:r>
              <a:t>Layer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21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Security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22199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身份与权限在 Agent 间传递 (JWT + 零信任)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10698480" cy="685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109728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999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Intent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9923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自然语言 → 结构化意图 → 执行计划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10698480" cy="685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03320"/>
            <a:ext cx="109728" cy="68580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776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Layer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776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Skill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77647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AI 技能的定义、注册、调用、编排 (gRPC streaming)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80560"/>
            <a:ext cx="10698480" cy="685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480560"/>
            <a:ext cx="109728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53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Layer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553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Ontology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55371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物理世界 → 数字映射的标准格式 (YAML 声明式)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257800"/>
            <a:ext cx="109728" cy="685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330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Layer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330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Transport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33095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gRPC (control) + Kafka (data) + SSE (streaming)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126480"/>
            <a:ext cx="10698480" cy="54864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172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协议版本: dap/v1 (当前) → v2 (多模态) → v3 (跨组织 Agent 协作)  |  向后兼容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核心数据流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011680" cy="1828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01168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用户输入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自然语言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AAB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0944" y="1097280"/>
            <a:ext cx="2011680" cy="1828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80944" y="1097280"/>
            <a:ext cx="20116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3" y="1280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Intent 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3" y="16459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NL → 结构化</a:t>
            </a:r>
            <a:br/>
            <a:r>
              <a:t>goals +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6904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AAB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1097280"/>
            <a:ext cx="2011680" cy="1828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0368" y="1097280"/>
            <a:ext cx="201168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280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Agent 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16459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Intent → Plan</a:t>
            </a:r>
            <a:br/>
            <a:r>
              <a:t>多步骤 DAG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7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AAB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1097280"/>
            <a:ext cx="2011680" cy="1828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9792" y="1097280"/>
            <a:ext cx="20116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1280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Skill 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16459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gRPC streaming</a:t>
            </a:r>
            <a:br/>
            <a:r>
              <a:t>逐步执行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AAB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9216" y="1097280"/>
            <a:ext cx="2011680" cy="1828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1097280"/>
            <a:ext cx="201168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66376" y="1280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icrosoft YaHei"/>
              </a:defRPr>
            </a:pPr>
            <a:r>
              <a:t>结果输出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6376" y="16459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富卡片/报告</a:t>
            </a:r>
            <a:br/>
            <a:r>
              <a:t>图表/Action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风险分级与人工介入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657600"/>
            <a:ext cx="34747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657600"/>
            <a:ext cx="347472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794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低风险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160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自动执行</a:t>
            </a:r>
            <a:br/>
            <a:r>
              <a:t>SSE 推送进度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59" y="3657600"/>
            <a:ext cx="34747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59" y="365760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79" y="3794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中风险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4160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暂停 → HITL 审批</a:t>
            </a:r>
            <a:br/>
            <a:r>
              <a:t>审批通过 → 继续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657600"/>
            <a:ext cx="34747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365760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3794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4D"/>
                </a:solidFill>
                <a:latin typeface="Microsoft YaHei"/>
              </a:defRPr>
            </a:pPr>
            <a:r>
              <a:t>高风险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160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强制暂停 → 多级审批</a:t>
            </a:r>
            <a:br/>
            <a:r>
              <a:t>展示 AI 推理链路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303520"/>
            <a:ext cx="10698480" cy="128016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全链路审计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806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全部操作 → Kafka → dts-audit-log (append-only, 不可篡改) + dts-observability (AI Trace 树, 成本统计)</a:t>
            </a:r>
            <a:br/>
            <a:r>
              <a:t>人和 AI 走同一个 Capability API，审计天然统一，无需额外实现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五条铁律在产品中的体现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914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234439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人工随时可接管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54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每个 AI 能力都有等价的人工操作路径，AI 不可用时平台 100% 可用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39"/>
            <a:ext cx="10698480" cy="914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285999"/>
            <a:ext cx="640080" cy="64008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240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核心安全不可绕过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0603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所有请求必经 dts-gateway，AppPack 无特权，Skill 调用携带 RequestContext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0698480" cy="914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337560"/>
            <a:ext cx="640080" cy="640080"/>
          </a:xfrm>
          <a:prstGeom prst="ellipse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83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数据安全是基因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57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每个属性标记 classification，AI 读取自动过 dts-data-security，SQL 自动注入行级过滤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59"/>
            <a:ext cx="10698480" cy="914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389120"/>
            <a:ext cx="640080" cy="6400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3433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全操作可追溯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70915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人和 AI 走同一个 Capability API，SkillResponse 携带审计条目，Kafka append-only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5440680"/>
            <a:ext cx="640080" cy="64008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能力先于界面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760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每个服务先有完整 API + 测试，AI Tool 是 API 适配器，UI 是加速层不是替代层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Pilot — 决策门户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面向管理者和业务人员的自然语言交互式决策入口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自然语言交互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AI 对话主界面 + CopilotSidebar</a:t>
            </a:r>
            <a:br/>
            <a:r>
              <a:t>流式响应 (SSE)</a:t>
            </a:r>
            <a:br/>
            <a:r>
              <a:t>对话内嵌富卡片</a:t>
            </a:r>
            <a:br/>
            <a:r>
              <a:t>追问式增量修改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Microsoft YaHei"/>
              </a:defRPr>
            </a:pPr>
            <a:r>
              <a:t>决策仪表盘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KPI 概览卡片</a:t>
            </a:r>
            <a:br/>
            <a:r>
              <a:t>AI 图表 Pin-to-Canvas</a:t>
            </a:r>
            <a:br/>
            <a:r>
              <a:t>保存为报告/看板</a:t>
            </a:r>
            <a:br/>
            <a:r>
              <a:t>角色自适应菜单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审批工作流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高风险操作推送审批</a:t>
            </a:r>
            <a:br/>
            <a:r>
              <a:t>展示 AI 推理链路</a:t>
            </a:r>
            <a:br/>
            <a:r>
              <a:t>多级审批流</a:t>
            </a:r>
            <a:br/>
            <a:r>
              <a:t>超时自动处理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通知与推送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9202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定时报告推送</a:t>
            </a:r>
            <a:br/>
            <a:r>
              <a:t>异常告警推送</a:t>
            </a:r>
            <a:br/>
            <a:r>
              <a:t>多渠道投递</a:t>
            </a:r>
            <a:br/>
            <a:r>
              <a:t>移动端适配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698480" cy="18288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核心场景演示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用户说：「统计华东区半年销售，出报告」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理解意图 → 自动生成查询 → 从数据库获取 → 月度趋势+同比分析 → 折线图+柱状图 → 标题+结论+建议 → 一键导出 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Cortex — 专家工作台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面向行业专家的深度工作环境：数据探索 → Ontology 建模 → 技能编排 → 知识管理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Ontology 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React Flow 图可视化</a:t>
            </a:r>
            <a:br/>
            <a:r>
              <a:t>拖拽式定义</a:t>
            </a:r>
            <a:br/>
            <a:r>
              <a:t>语义搜索 (pgvector)</a:t>
            </a:r>
            <a:br/>
            <a:r>
              <a:t>数据血缘追踪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Microsoft YaHei"/>
              </a:defRPr>
            </a:pPr>
            <a:r>
              <a:t>KnowHow 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按金字塔层级展示</a:t>
            </a:r>
            <a:br/>
            <a:r>
              <a:t>专家校正 AI 草稿</a:t>
            </a:r>
            <a:br/>
            <a:r>
              <a:t>沙箱试运行</a:t>
            </a:r>
            <a:br/>
            <a:r>
              <a:t>碎片管理和聚类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技能编排工作台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DAG 拖拽编排</a:t>
            </a:r>
            <a:br/>
            <a:r>
              <a:t>Skill 测试运行</a:t>
            </a:r>
            <a:br/>
            <a:r>
              <a:t>Persona 管理</a:t>
            </a:r>
            <a:br/>
            <a:r>
              <a:t>评测对比分析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数据探索分析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9202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SQL 编辑器</a:t>
            </a:r>
            <a:br/>
            <a:r>
              <a:t>数据 Profiling</a:t>
            </a:r>
            <a:br/>
            <a:r>
              <a:t>质量看板</a:t>
            </a:r>
            <a:br/>
            <a:r>
              <a:t>NL2SQL 对话查询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D6"/>
                </a:solidFill>
                <a:latin typeface="Microsoft YaHei"/>
              </a:defRPr>
            </a:pPr>
            <a:r>
              <a:t>Cortex 的核心价值：将个人的行业经验转化为可复用的组织资产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Admin — 管理控制台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面向 IT 管理员的平台运维和配置中心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用户/角色/权限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RBAC + Keycloak 同步</a:t>
            </a:r>
            <a:br/>
            <a:r>
              <a:t>多租户隔离</a:t>
            </a:r>
            <a:br/>
            <a:r>
              <a:t>功能权限与数据权限分离</a:t>
            </a:r>
            <a:br/>
            <a:r>
              <a:t>角色自适应菜单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Microsoft YaHei"/>
              </a:defRPr>
            </a:pPr>
            <a:r>
              <a:t>数据源配置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JDBC/File/API/OPC-UA</a:t>
            </a:r>
            <a:br/>
            <a:r>
              <a:t>一键连接测试</a:t>
            </a:r>
            <a:br/>
            <a:r>
              <a:t>元数据自动发现</a:t>
            </a:r>
            <a:br/>
            <a:r>
              <a:t>CDC 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56032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服务监控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25 服务健康看板</a:t>
            </a:r>
            <a:br/>
            <a:r>
              <a:t>Grafana Tempo 追踪</a:t>
            </a:r>
            <a:br/>
            <a:r>
              <a:t>Prometheus 指标</a:t>
            </a:r>
            <a:br/>
            <a:r>
              <a:t>Loki 日志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56032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AppPack 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9202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应用市场浏览/安装</a:t>
            </a:r>
            <a:br/>
            <a:r>
              <a:t>版本管理/回滚</a:t>
            </a:r>
            <a:br/>
            <a:r>
              <a:t>运行状态监控</a:t>
            </a:r>
            <a:br/>
            <a:r>
              <a:t>权限审批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10698480" cy="685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icrosoft YaHei"/>
              </a:defRPr>
            </a:pPr>
            <a:r>
              <a:t>审计日志查看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663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全操作日志 + 多维筛选 + 决策链路回溯 + 合规报告导出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49240"/>
            <a:ext cx="10698480" cy="685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4406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BB"/>
                </a:solidFill>
                <a:latin typeface="Microsoft YaHei"/>
              </a:defRPr>
            </a:pPr>
            <a:r>
              <a:t>系统配置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44067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LLM 端点/Token 限额/超时策略 + 安全策略 + 调度管理 + 备份管理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核心模块：Ontology 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AI Agent 理解客户物理世界的认知框架 — 不是数据字典，是完整数字孪生模型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ObjectType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声明式定义业务对象</a:t>
            </a:r>
            <a:br/>
            <a:r>
              <a:t>属性/类型/分级/来源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508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Microsoft YaHei"/>
              </a:defRPr>
            </a:pPr>
            <a:r>
              <a:t>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8745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React Flow 图可视化</a:t>
            </a:r>
            <a:br/>
            <a:r>
              <a:t>关系和基数管理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08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公式编辑+阈值告警</a:t>
            </a:r>
            <a:br/>
            <a:r>
              <a:t>OEE = A × P × 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508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8745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可执行操作定义</a:t>
            </a:r>
            <a:br/>
            <a:r>
              <a:t>风险等级 → HITL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DAP 设计原则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10698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657600"/>
            <a:ext cx="91440" cy="5486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声明式而非命令式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703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定义「是什么」，Agent 自主决定「怎么做」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10698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297680"/>
            <a:ext cx="91440" cy="54864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数据安全内置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每个属性标记 classification，读取时自动过安全检查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698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937760"/>
            <a:ext cx="9144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来源标记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983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标记 source 和 frequency，Agent 知道去哪拿数据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577840"/>
            <a:ext cx="10698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577840"/>
            <a:ext cx="91440" cy="5486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6235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icrosoft YaHei"/>
              </a:defRPr>
            </a:pPr>
            <a:r>
              <a:t>行业命名空间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6235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manufacturing/energy/research 隔离，防跨 Pack 冲突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Intent 引擎 + Agent 运行时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3035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Microsoft YaHei"/>
              </a:defRPr>
            </a:pPr>
            <a:r>
              <a:t>Intent 引擎 (dts-intent-engine)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NL → 结构化 Intent (goals + constraints + plan)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多目标意图分解: 一句话中识别多个目标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约束条件识别: max_steps, timeout, approval_level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风险等级评估: low/medium/high 自动分级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Intent 路由: 自动选择 Skill 组合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上下文保持: 多轮对话增量修改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530352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C76F"/>
                </a:solidFill>
                <a:latin typeface="Microsoft YaHei"/>
              </a:defRPr>
            </a:pPr>
            <a:r>
              <a:t>Agent 运行时 (dts-agent)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LangGraph 状态机驱动的 DAG 执行引擎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Persona 管理: system prompt + Skill 集 + 定时任务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执行计划生成: LLM → TaskPlan (DAG)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标准 gRPC SkillService 接口调用所有 Skill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决策解释: AI Trace 树 → 人类可读推理链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人工接管: 任意步骤可暂停，手动完成后继续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错误恢复: 重试/跳过/降级/终止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9144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Intent 描述「要什么」| Agent 决定「怎么做」| Skill 执行「做什么」— 三者通过 DAP 协议解耦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数据连接与质量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不搬数据、就地使用 — JDBC 直连，SQL 下推执行，数据不离开原位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支持的数据源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关系数据库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PG/MySQL/Oracle</a:t>
            </a:r>
            <a:br/>
            <a:r>
              <a:t>SQL Server/ClickHouse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Microsoft YaHei"/>
              </a:defRPr>
            </a:pPr>
            <a:r>
              <a:t>大数据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Hive/Spark SQL</a:t>
            </a:r>
            <a:br/>
            <a:r>
              <a:t>(via JDBC)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C76F"/>
                </a:solidFill>
                <a:latin typeface="Microsoft YaHei"/>
              </a:defRPr>
            </a:pPr>
            <a:r>
              <a:t>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CSV/Excel/JSON</a:t>
            </a:r>
            <a:br/>
            <a:r>
              <a:t>Parquet (MinIO)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73736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API/工业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REST / OPC-UA</a:t>
            </a:r>
            <a:br/>
            <a:r>
              <a:t>MQTT (IoT)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AI 数据质量检测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规则检测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SQL 质量检查</a:t>
            </a:r>
            <a:br/>
            <a:r>
              <a:t>完整性/一致性/范围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56616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3611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Microsoft YaHei"/>
              </a:defRPr>
            </a:pPr>
            <a:r>
              <a:t>异常发现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3931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统计分布对比</a:t>
            </a:r>
            <a:br/>
            <a:r>
              <a:t>漂移检测 + LLM 解释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56616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611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C76F"/>
                </a:solidFill>
                <a:latin typeface="Microsoft YaHei"/>
              </a:defRPr>
            </a:pPr>
            <a:r>
              <a:t>修复建议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31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LLM 提出纠正方案</a:t>
            </a:r>
            <a:br/>
            <a:r>
              <a:t>规则化去重/标准化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56616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3611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数据 Profiling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31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分布/空值/离群</a:t>
            </a:r>
            <a:br/>
            <a:r>
              <a:t>LLM 解释异常模式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安全架构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数据安全不是功能模块，而是架构基因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9728" cy="1051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认证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Keycloak + 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173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OIDC/SAML/PKI</a:t>
            </a:r>
            <a:br/>
            <a:r>
              <a:t>JWT 在服务间通过 gRPC metadata 传递</a:t>
            </a:r>
            <a:br/>
            <a:r>
              <a:t>dts-gateway 强制验证所有外部请求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698480" cy="10515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09728" cy="1051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Microsoft YaHei"/>
              </a:defRPr>
            </a:pPr>
            <a:r>
              <a:t>授权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06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RBAC + ABAC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06039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功能权限 (菜单/按钮/API)</a:t>
            </a:r>
            <a:br/>
            <a:r>
              <a:t>数据权限 (分级 × 属性 → allow/mask/deny)</a:t>
            </a:r>
            <a:br/>
            <a:r>
              <a:t>角色自适应菜单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10515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9728" cy="105156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数据安全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794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动态脱敏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94759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行级过滤 (SecuritySqlRewriter)</a:t>
            </a:r>
            <a:br/>
            <a:r>
              <a:t>列级控制 + 数据水印</a:t>
            </a:r>
            <a:br/>
            <a:r>
              <a:t>RAG 检索安全过滤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698480" cy="10515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937760"/>
            <a:ext cx="109728" cy="10515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AI 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零信任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8348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AppPack 无特权</a:t>
            </a:r>
            <a:br/>
            <a:r>
              <a:t>Prompt 注入防护</a:t>
            </a:r>
            <a:br/>
            <a:r>
              <a:t>TaskContext 加密存储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核心保障: 每次数据访问都通过 DataSecurityCheck 验证，不缓存权限决策，AppPack 的 Skill 看到的数据 = 当前用户有权看到的数据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 技能体系 — 57 个标准化技能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Microsoft YaHei"/>
              </a:defRPr>
            </a:pPr>
            <a:r>
              <a:t>每个 Skill 遵循 DAP Layer 2，gRPC 标准接口: Describe (发现) + Validate (预校验) + Execute (流式执行)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平台技能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17 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数据查询/Ontology 建模</a:t>
            </a:r>
            <a:br/>
            <a:r>
              <a:t>报告生成/Dashboard</a:t>
            </a:r>
            <a:br/>
            <a:r>
              <a:t>行动执行/导航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示例: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data/execute-query</a:t>
            </a:r>
            <a:br/>
            <a:r>
              <a:t>ontology/search</a:t>
            </a:r>
            <a:br/>
            <a:r>
              <a:t>query/nl2sql</a:t>
            </a:r>
            <a:br/>
            <a:r>
              <a:t>report/generate</a:t>
            </a:r>
            <a:br/>
            <a:r>
              <a:t>action/create-workflow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1371600"/>
            <a:ext cx="20116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80944" y="1371600"/>
            <a:ext cx="20116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数据技能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 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148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数据接入/质量检测</a:t>
            </a:r>
            <a:br/>
            <a:r>
              <a:t>异常发现/CDC 同步</a:t>
            </a:r>
            <a:br/>
            <a:r>
              <a:t>映射建议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示例: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931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connector/discover-metadata</a:t>
            </a:r>
            <a:br/>
            <a:r>
              <a:t>quality/run-rules</a:t>
            </a:r>
            <a:br/>
            <a:r>
              <a:t>quality/detect-drift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0368" y="1371600"/>
            <a:ext cx="20116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30368" y="1371600"/>
            <a:ext cx="201168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7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AI 技能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 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2148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Agent 推理/Intent 解析</a:t>
            </a:r>
            <a:br/>
            <a:r>
              <a:t>评测/Bad Case 飞轮</a:t>
            </a:r>
            <a:br/>
            <a:r>
              <a:t>Persona 切换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示例: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7" y="3931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agent/route-intent</a:t>
            </a:r>
            <a:br/>
            <a:r>
              <a:t>agent/plan-steps</a:t>
            </a:r>
            <a:br/>
            <a:r>
              <a:t>eval/run-suite</a:t>
            </a:r>
            <a:br/>
            <a:r>
              <a:t>eval/compare-versions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1371600"/>
            <a:ext cx="20116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9792" y="1371600"/>
            <a:ext cx="20116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1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行业技能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18 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2148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电力: 负荷预测/缺陷检测</a:t>
            </a:r>
            <a:br/>
            <a:r>
              <a:t>科研: 质量分析/NCR 归零</a:t>
            </a:r>
            <a:br/>
            <a:r>
              <a:t>制造: OEE/排程/根因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示例: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3931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energy/predict-load</a:t>
            </a:r>
            <a:br/>
            <a:r>
              <a:t>research/analyze-quality</a:t>
            </a:r>
            <a:br/>
            <a:r>
              <a:t>mfg/predict-maintenance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29216" y="1371600"/>
            <a:ext cx="20116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29216" y="1371600"/>
            <a:ext cx="201168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0656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icrosoft YaHei"/>
              </a:defRPr>
            </a:pPr>
            <a:r>
              <a:t>运维技能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0656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 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6" y="2148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健康检查/日志诊断</a:t>
            </a:r>
            <a:br/>
            <a:r>
              <a:t>扩缩容/备份恢复</a:t>
            </a:r>
            <a:br/>
            <a:r>
              <a:t>Pack 安装/升级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示例: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0656" y="3931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ops/check-health</a:t>
            </a:r>
            <a:br/>
            <a:r>
              <a:t>ops/diagnose-error</a:t>
            </a:r>
            <a:br/>
            <a:r>
              <a:t>ops/install-pack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技能类型: Rule (纯规则) | LLM (大模型推理) | Hybrid (规则+LLM) | Workflow (含人工审批)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AppPack 生态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半成品 + Connector 策略: 不做完整行业应用，封装决策层精华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Pack 包含 10 种能力类型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1168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ontology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0944" y="1737360"/>
            <a:ext cx="201168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2384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0368" y="1737360"/>
            <a:ext cx="201168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21807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connectors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1737360"/>
            <a:ext cx="201168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1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216" y="1737360"/>
            <a:ext cx="201168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0656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40280"/>
            <a:ext cx="201168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persona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80944" y="2240280"/>
            <a:ext cx="201168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2384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2240280"/>
            <a:ext cx="201168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7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quality_rules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2240280"/>
            <a:ext cx="201168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9216" y="2240280"/>
            <a:ext cx="201168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0656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evaluations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垂直深度光谱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291840"/>
            <a:ext cx="10698480" cy="457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337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BB"/>
                </a:solidFill>
                <a:latin typeface="Microsoft YaHei"/>
              </a:defRPr>
            </a:pPr>
            <a:r>
              <a:t>Level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通用数据平台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337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传统大数据平台停在这里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840480"/>
            <a:ext cx="10698480" cy="457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Level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行业知识插件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886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DTS 核心层: Ontology + Skills + Prompts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389120"/>
            <a:ext cx="10698480" cy="457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434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Level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垂直应用模块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434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未来可选: 在 Pack 里做决策层应用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937760"/>
            <a:ext cx="10698480" cy="457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983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4D"/>
                </a:solidFill>
                <a:latin typeface="Microsoft YaHei"/>
              </a:defRPr>
            </a:pPr>
            <a:r>
              <a:t>Level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独立垂直 SaaS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983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不做: 避免变成应用厂商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577840"/>
            <a:ext cx="10698480" cy="109728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AppPack 安全保障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运行时隔离 (GraalVM 沙箱) | 权限沙箱 (DataAccessGate) | 发布签名校验 + 静态扫描</a:t>
            </a:r>
            <a:br/>
            <a:r>
              <a:t>网络隔离 (白名单域名) | 与内置 Skill 完全相同的安全链路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KnowHow 知识管理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五层知识金字塔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5486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Microsoft YaHei"/>
              </a:defRPr>
            </a:pPr>
            <a:r>
              <a:t>L4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世界模型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Agent 预测操作后果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417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准确率: TBD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011680"/>
            <a:ext cx="1014984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011680"/>
            <a:ext cx="73152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057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隐性模式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057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专家没说但一直用的规则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准确率: ~60%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2651760"/>
            <a:ext cx="960120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0" y="2651760"/>
            <a:ext cx="73152" cy="54864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39" y="26974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潜在知识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6974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专家能说但没人问的逻辑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697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准确率: ~75%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3291839"/>
            <a:ext cx="9052559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54480" y="3291839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333755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Microsoft YaHei"/>
              </a:defRPr>
            </a:pPr>
            <a:r>
              <a:t>L1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3375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显性结构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3375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数据字典、行业标准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39" y="333755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准确率: ~95%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3931920"/>
            <a:ext cx="8503919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3931920"/>
            <a:ext cx="73152" cy="5486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39776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L0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9776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多模态感知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视觉+声音+时序+文本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19" y="39776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准确率: TBD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KnowHow 提取四阶段 (Gen-Ba 碎片策略)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2064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影子观察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86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AI 静默观察</a:t>
            </a:r>
            <a:br/>
            <a:r>
              <a:t>专家日常决策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B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512064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碎片外化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5486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决策瞬间追问</a:t>
            </a:r>
            <a:br/>
            <a:r>
              <a:t>容许不完整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B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12064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松散组合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486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LLM 聚类补全</a:t>
            </a:r>
            <a:br/>
            <a:r>
              <a:t>生成草稿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B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0" y="5120640"/>
            <a:ext cx="25603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协作内化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5486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与专家并行运行</a:t>
            </a:r>
            <a:br/>
            <a:r>
              <a:t>评测量化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部署架构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All-in-K8s: 统一架构，在线/离线唯一差异是 LLM 端点 + 镜像仓库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开发单机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 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single-node RKE2</a:t>
            </a:r>
            <a:br/>
            <a:r>
              <a:t>本地开发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Microsoft YaHei"/>
              </a:defRPr>
            </a:pPr>
            <a:r>
              <a:t>小型离线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1-3 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148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离线镜像仓库</a:t>
            </a:r>
            <a:br/>
            <a:r>
              <a:t>+ 本地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中型集群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3-10 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48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标准部署</a:t>
            </a:r>
            <a:br/>
            <a:r>
              <a:t>HA 中间件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云环境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弹性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148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托管 K8s</a:t>
            </a:r>
            <a:br/>
            <a:r>
              <a:t>+ 云 LLM 端点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基础设施组件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256032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dts-operator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703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K8s Operator</a:t>
            </a:r>
            <a:br/>
            <a:r>
              <a:t>组件生命周期</a:t>
            </a:r>
            <a:br/>
            <a:r>
              <a:t>AppPack 部署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3657600"/>
            <a:ext cx="256032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dts-cli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703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CLI 安装/升级</a:t>
            </a:r>
            <a:br/>
            <a:r>
              <a:t>备份/离线打包</a:t>
            </a:r>
            <a:br/>
            <a:r>
              <a:t>Pack 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657600"/>
            <a:ext cx="256032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Helm Chart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703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分层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platform-base</a:t>
            </a:r>
            <a:br/>
            <a:r>
              <a:t>dts-core</a:t>
            </a:r>
            <a:br/>
            <a:r>
              <a:t>extensions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3657600"/>
            <a:ext cx="256032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Argo CD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3703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GitOps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环境级</a:t>
            </a:r>
            <a:br/>
            <a:r>
              <a:t>持续交付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存储层 — 六大引擎各司其职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760720"/>
            <a:ext cx="1691640" cy="640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788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Microsoft YaHei"/>
              </a:defRPr>
            </a:pPr>
            <a:r>
              <a:t>PostgreSQL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0167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主关系存储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06039" y="5760720"/>
            <a:ext cx="1691640" cy="640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79" y="5788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Microsoft YaHei"/>
              </a:defRPr>
            </a:pPr>
            <a:r>
              <a:t>ClickHouse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79" y="60167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时序分析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0559" y="5760720"/>
            <a:ext cx="1691640" cy="640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1999" y="5788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Microsoft YaHei"/>
              </a:defRPr>
            </a:pPr>
            <a:r>
              <a:t>Neo4j 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1999" y="60167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图关系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79" y="5760720"/>
            <a:ext cx="1691640" cy="640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19" y="5788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Microsoft YaHei"/>
              </a:defRPr>
            </a:pPr>
            <a:r>
              <a:t>pgvector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19" y="60167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向量索引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5760720"/>
            <a:ext cx="1691640" cy="640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5788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Microsoft YaHei"/>
              </a:defRPr>
            </a:pPr>
            <a:r>
              <a:t>MinIO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167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对象存储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04120" y="5760720"/>
            <a:ext cx="1691640" cy="640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95560" y="5788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Microsoft YaHei"/>
              </a:defRPr>
            </a:pPr>
            <a:r>
              <a:t>Kafka KRaft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95560" y="60167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消息事件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性能指标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NL2SQL 响应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89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&lt; 3s (P95)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简单查询端到端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01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&lt; 5s (P95)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多步决策任务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12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&lt; 120s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24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Skill 调用延迟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24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&lt; 500ms (规则) / &lt; 3s (LLM)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358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并发对话数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35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100+ (单集群)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2900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47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Ontology 规模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447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1000+ ObjectType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58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审计日志吞吐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858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10000+ events/s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部署要求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37160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389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D6"/>
                </a:solidFill>
                <a:latin typeface="Microsoft YaHei"/>
              </a:defRPr>
            </a:pPr>
            <a:r>
              <a:t>CPU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1389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16 核 (最低) / 32 核+ (推荐)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78308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1801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D6"/>
                </a:solidFill>
                <a:latin typeface="Microsoft YaHei"/>
              </a:defRPr>
            </a:pPr>
            <a:r>
              <a:t>内存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1801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32 GB (最低) / 64 GB+ (推荐)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19456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212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D6"/>
                </a:solidFill>
                <a:latin typeface="Microsoft YaHei"/>
              </a:defRPr>
            </a:pPr>
            <a:r>
              <a:t>磁盘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2128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200 GB SSD / 500 GB+ SSD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60604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2624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D6"/>
                </a:solidFill>
                <a:latin typeface="Microsoft YaHei"/>
              </a:defRPr>
            </a:pPr>
            <a:r>
              <a:t>K8s 节点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26243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1 (开发) / 3+ (生产)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01752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D6"/>
                </a:solidFill>
                <a:latin typeface="Microsoft YaHei"/>
              </a:defRPr>
            </a:pPr>
            <a:r>
              <a:t>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035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本地 7B / 云端 GPT-4 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429000"/>
            <a:ext cx="5303520" cy="34747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447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D6"/>
                </a:solidFill>
                <a:latin typeface="Microsoft YaHei"/>
              </a:defRPr>
            </a:pPr>
            <a:r>
              <a:t>浏览器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447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Chrome/Firefox/Edge 100+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可观测性 — OpenTelemetry 全链路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754880"/>
            <a:ext cx="25603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Grafana Tempo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分布式追踪</a:t>
            </a:r>
            <a:br/>
            <a:r>
              <a:t>traceId 串联全链路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66160" y="4754880"/>
            <a:ext cx="25603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Prometheus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指标监控</a:t>
            </a:r>
            <a:br/>
            <a:r>
              <a:t>延迟/吞吐/错误率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754880"/>
            <a:ext cx="25603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Grafana Loki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日志聚合检索</a:t>
            </a:r>
            <a:br/>
            <a:r>
              <a:t>多维度过滤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35440" y="4754880"/>
            <a:ext cx="25603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AI Trace 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Agent 推理可视化</a:t>
            </a:r>
            <a:br/>
            <a:r>
              <a:t>Token 成本统计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25 个微服务全景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Python AI 核心 (10 个, 全部可降级)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dts-agent — Agent 运行时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dts-intent-engine — 意图解析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dts-ontology-engine — 语义推理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dts-data-connector — 数据接入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dts-data-quality — 质量检测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dts-query-ai — NL2SQL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dts-ai-eval — 评测套件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dts-observability — 链路追踪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dts-scheduler — 任务调度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dts-perception — 多模态 (P2)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Java 业务平台 (10 个, 独立可用)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dts-platform — 用户/权限/租户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dts-gateway — API 网关/认证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dts-ontology-store — Ontology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dts-query-service — SQL 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dts-governance — 元数据/血缘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71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dts-asset — 资产目录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dts-data-security — 动态脱敏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11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dts-workflow — 审批引擎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dts-audit-log — 审计日志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dts-data-service — 数据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Go 基础设施 (2 个)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dts-operator — K8s 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dts-cli — CLI 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Frontend (3 个)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dts-pilot-webapp — 决策门户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486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dts-cortex-webapp — 专家工作台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760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  dts-admin-webapp — 管理控制台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关键约束: Python 服务是增强层，Java 服务必须能独立运行 — 关掉所有 Python 服务，Java 平台仍然 100% 可用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37160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DTS 产品功能说明书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D6"/>
                </a:solidFill>
                <a:latin typeface="Microsoft YaHei"/>
              </a:defRPr>
            </a:pPr>
            <a:r>
              <a:t>AI Decision Operating System —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8"/>
                </a:solidFill>
                <a:latin typeface="Microsoft YaHei"/>
              </a:defRPr>
            </a:pPr>
            <a:r>
              <a:t>核心公式: Ontology (认知基座) + Intent (意图理解) + Agent (自主执行)</a:t>
            </a:r>
          </a:p>
          <a:p>
            <a:pPr>
              <a:spcAft>
                <a:spcPts val="800"/>
              </a:spcAft>
              <a:defRPr sz="1800">
                <a:solidFill>
                  <a:srgbClr val="E0E0E8"/>
                </a:solidFill>
                <a:latin typeface="Microsoft YaHei"/>
              </a:defRPr>
            </a:pPr>
            <a:r>
              <a:t>三支柱架构: dts-studio (设计中心) + dts-stack (能力中心) + app-stack (应用中心)</a:t>
            </a:r>
          </a:p>
          <a:p>
            <a:pPr>
              <a:spcAft>
                <a:spcPts val="800"/>
              </a:spcAft>
              <a:defRPr sz="1800">
                <a:solidFill>
                  <a:srgbClr val="E0E0E8"/>
                </a:solidFill>
                <a:latin typeface="Microsoft YaHei"/>
              </a:defRPr>
            </a:pPr>
            <a:r>
              <a:t>25 个微服务 (Python 10 + Java 10 + Go 2 + Frontend 3)，三语言解耦协作</a:t>
            </a:r>
          </a:p>
          <a:p>
            <a:pPr>
              <a:spcAft>
                <a:spcPts val="800"/>
              </a:spcAft>
              <a:defRPr sz="1800">
                <a:solidFill>
                  <a:srgbClr val="E0E0E8"/>
                </a:solidFill>
                <a:latin typeface="Microsoft YaHei"/>
              </a:defRPr>
            </a:pPr>
            <a:r>
              <a:t>DAP 五层协议: Ontology → Skill → Intent → Security → Audit，产品核心护城河</a:t>
            </a:r>
          </a:p>
          <a:p>
            <a:pPr>
              <a:spcAft>
                <a:spcPts val="800"/>
              </a:spcAft>
              <a:defRPr sz="1800">
                <a:solidFill>
                  <a:srgbClr val="E0E0E8"/>
                </a:solidFill>
                <a:latin typeface="Microsoft YaHei"/>
              </a:defRPr>
            </a:pPr>
            <a:r>
              <a:t>57 个 AI 技能: 17 平台 + 6 数据 + 9 AI + 18 行业 + 7 运维</a:t>
            </a:r>
          </a:p>
          <a:p>
            <a:pPr>
              <a:spcAft>
                <a:spcPts val="800"/>
              </a:spcAft>
              <a:defRPr sz="1800">
                <a:solidFill>
                  <a:srgbClr val="E0E0E8"/>
                </a:solidFill>
                <a:latin typeface="Microsoft YaHei"/>
              </a:defRPr>
            </a:pPr>
            <a:r>
              <a:t>五条铁律: 人工可接管 | 安全不可绕过 | 数据安全基因 | 全操作可追溯 | 能力先于界面</a:t>
            </a:r>
          </a:p>
          <a:p>
            <a:pPr>
              <a:spcAft>
                <a:spcPts val="800"/>
              </a:spcAft>
              <a:defRPr sz="1800">
                <a:solidFill>
                  <a:srgbClr val="E0E0E8"/>
                </a:solidFill>
                <a:latin typeface="Microsoft YaHei"/>
              </a:defRPr>
            </a:pPr>
            <a:r>
              <a:t>All-in-K8s 统一部署，在线/离线唯一差异是 LLM 端点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Microsoft YaHei"/>
              </a:defRPr>
            </a:pPr>
            <a:r>
              <a:t>把专家脑中的隐性经验变成系统里能自动运转的能力包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