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266825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14170"/>
            <a:ext cx="10058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Decision Twins System</a:t>
            </a:r>
          </a:p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/>
              <a:t>决策孪生系统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D6"/>
                </a:solidFill>
                <a:latin typeface="Microsoft YaHei"/>
              </a:defRPr>
            </a:pPr>
            <a:r>
              <a:t>AI Decision Operating System -- V1.0.0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Ontology</a:t>
            </a:r>
            <a:r>
              <a:rPr lang="en-US"/>
              <a:t>(</a:t>
            </a:r>
            <a:r>
              <a:rPr lang="zh-CN" altLang="en-US"/>
              <a:t>本体论</a:t>
            </a:r>
            <a:r>
              <a:rPr lang="en-US" altLang="zh-CN"/>
              <a:t>)</a:t>
            </a:r>
            <a:r>
              <a:t> + Intent</a:t>
            </a:r>
            <a:r>
              <a:rPr lang="en-US"/>
              <a:t>(</a:t>
            </a:r>
            <a:r>
              <a:rPr lang="zh-CN" altLang="en-US"/>
              <a:t>意图</a:t>
            </a:r>
            <a:r>
              <a:rPr lang="en-US" altLang="zh-CN"/>
              <a:t>)</a:t>
            </a:r>
            <a:r>
              <a:t> + Agent</a:t>
            </a:r>
            <a:r>
              <a:rPr lang="en-US"/>
              <a:t>(</a:t>
            </a:r>
            <a:r>
              <a:rPr lang="zh-CN" altLang="en-US"/>
              <a:t>智能体</a:t>
            </a:r>
            <a:r>
              <a:rPr lang="en-US" altLang="zh-CN"/>
              <a:t>)</a:t>
            </a:r>
            <a:r>
              <a:t> = </a:t>
            </a:r>
            <a:r>
              <a:rPr lang="zh-CN"/>
              <a:t>决策孪生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2026-03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8288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把专家脑中的隐性经验，变成系统里能自动运转的「能力包」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8"/>
                </a:solidFill>
                <a:latin typeface="Microsoft YaHei"/>
              </a:defRPr>
            </a:pPr>
            <a:r>
              <a:t>企业不缺数据，缺的是基于数据的决策能力。DTS 将专家 20 年经验通过 AI 对话提取、结构化编码、系统化运行，</a:t>
            </a:r>
            <a:br/>
            <a:r>
              <a:t>让用户用一句话完成「理解需求 -&gt; 查数据 -&gt; 分析 -&gt; 图表 -&gt; 报告 -&gt; 行动建议」端到端决策闭环。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92024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192024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Y1 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Microsoft YaHei"/>
              </a:defRPr>
            </a:pPr>
            <a:r>
              <a:t>800 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383280"/>
            <a:ext cx="192024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3383280"/>
            <a:ext cx="192024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Y3 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C76F"/>
                </a:solidFill>
                <a:latin typeface="Microsoft YaHei"/>
              </a:defRPr>
            </a:pPr>
            <a:r>
              <a:t>1 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383280"/>
            <a:ext cx="192024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3383280"/>
            <a:ext cx="192024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AI 技能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  <a:latin typeface="Microsoft YaHei"/>
              </a:defRPr>
            </a:pPr>
            <a:r>
              <a:t>57 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199" y="3383280"/>
            <a:ext cx="192024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199" y="3383280"/>
            <a:ext cx="19202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微服务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  <a:latin typeface="Microsoft YaHei"/>
              </a:defRPr>
            </a:pPr>
            <a:r>
              <a:t>25 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383280"/>
            <a:ext cx="192024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3383280"/>
            <a:ext cx="192024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融资需求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  <a:latin typeface="Microsoft YaHei"/>
              </a:defRPr>
            </a:pPr>
            <a:r>
              <a:t>2,000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核心差异化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vs 数据中台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解决「有没有数据」</a:t>
            </a:r>
            <a:br/>
            <a:r>
              <a:t>DTS 解决「数据能不能做决策」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530352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Microsoft YaHei"/>
              </a:defRPr>
            </a:pPr>
            <a:r>
              <a:t>vs BI 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715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展示数据让人看</a:t>
            </a:r>
            <a:br/>
            <a:r>
              <a:t>DTS 理解意图替人想、帮人做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0352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vs AI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715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通用 Agent 无行业深度</a:t>
            </a:r>
            <a:br/>
            <a:r>
              <a:t>DTS = Ontology + KnowHow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30352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vs Palantir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715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重、贵、封闭</a:t>
            </a:r>
            <a:br/>
            <a:r>
              <a:t>DTS 轻量私有化、开放生态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Know-how 为什么值钱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企业的核心竞争力，大多数存在几个人的脑子里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  <a:latin typeface="Microsoft YaHei"/>
              </a:defRPr>
            </a:pPr>
            <a:r>
              <a:t>没有 Know-how 的现实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500 个变电站，只有 3 个真正有经验的调度专家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资深工程师 8-10 年培养周期，退休即断层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年均流动率 15-20%，知识归零、重复交学费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决策质量取决于「今天谁值班」而非组织能力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C76F"/>
                </a:solidFill>
                <a:latin typeface="Microsoft YaHei"/>
              </a:defRPr>
            </a:pPr>
            <a:r>
              <a:t>Know-how 变成能力包之后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3 个专家的判断力 -&gt; 复制给 500 个站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新人上手就有老专家水平的辅助决策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专家退休，经验还在系统里继续运转</a:t>
            </a:r>
          </a:p>
          <a:p>
            <a:pPr>
              <a:spcAft>
                <a:spcPts val="800"/>
              </a:spcAft>
              <a:defRPr sz="1500">
                <a:solidFill>
                  <a:srgbClr val="E0E0E8"/>
                </a:solidFill>
                <a:latin typeface="Microsoft YaHei"/>
              </a:defRPr>
            </a:pPr>
            <a:r>
              <a:t>每个项目积累的 Know-how 自动沉淀，越用越值钱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Microsoft YaHei"/>
              </a:defRPr>
            </a:pPr>
            <a:r>
              <a:t>三层价值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3474720" cy="1920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省人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装上能力包</a:t>
            </a:r>
            <a:br/>
            <a:r>
              <a:t>这件事不再需要人盯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126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直接减少</a:t>
            </a:r>
            <a:br/>
            <a:r>
              <a:t>重复劳动岗位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754880"/>
            <a:ext cx="3474720" cy="1920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475488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提质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5440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每个新人都能像</a:t>
            </a:r>
            <a:br/>
            <a:r>
              <a:t>老专家一样判断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6126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错误率下降</a:t>
            </a:r>
            <a:br/>
            <a:r>
              <a:t>决策质量统一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754880"/>
            <a:ext cx="3474720" cy="1920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75488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保全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440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专家可以退休</a:t>
            </a:r>
            <a:br/>
            <a:r>
              <a:t>能力留在系统里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126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核心竞争力</a:t>
            </a:r>
            <a:br/>
            <a:r>
              <a:t>不随人员流失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三个条件在 2025-2026 年首次同时成熟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AI Agent 能力就绪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大模型推理/规划/工具调用</a:t>
            </a:r>
            <a:br/>
            <a:r>
              <a:t>突破临界点</a:t>
            </a:r>
            <a:br/>
            <a:r>
              <a:t>Agent 从玩具变生产力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Manus 8 月达 $100M ARR</a:t>
            </a:r>
            <a:br/>
            <a:r>
              <a:t>验证 Agent 市场需求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4747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Microsoft YaHei"/>
              </a:defRPr>
            </a:pPr>
            <a:r>
              <a:t>企业数据就绪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过去 5-10 年投入数百亿</a:t>
            </a:r>
            <a:br/>
            <a:r>
              <a:t>建数据湖/数仓/ETL/BI</a:t>
            </a:r>
            <a:br/>
            <a:r>
              <a:t>ROI 普遍不达预期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不是没数据，是有数据没价值</a:t>
            </a:r>
            <a:br/>
            <a:r>
              <a:t>DTS = 最后一公里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客户意愿就绪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决策者亲身体验 AI 能力</a:t>
            </a:r>
            <a:br/>
            <a:r>
              <a:t>首次主动寻求</a:t>
            </a:r>
            <a:br/>
            <a:r>
              <a:t>AI+业务决策的落地方案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从被动接受 IT 提案</a:t>
            </a:r>
            <a:br/>
            <a:r>
              <a:t>转为主动推动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窗口期判断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太早（2023）：AI 不可靠，客户不信  |  太晚（2028）：大厂做了，赛道拥挤  |  现在（2026）：客户有数据、有预算、有意愿，但没有好产品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企业决策的三大痛点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73152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专家依赖症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核心决策高度依赖</a:t>
            </a:r>
            <a:br/>
            <a:r>
              <a:t>少数资深专家</a:t>
            </a:r>
            <a:br/>
            <a:r>
              <a:t>电网调度员 8-10 年培养</a:t>
            </a:r>
            <a:br/>
            <a:r>
              <a:t>决策依据在「脑子里」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波兰尼：We know more</a:t>
            </a:r>
            <a:br/>
            <a:r>
              <a:t>than we can tell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4747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18872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79" y="146304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经验流失危机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核心技术岗年均</a:t>
            </a:r>
            <a:br/>
            <a:r>
              <a:t>流动率 15-20%</a:t>
            </a:r>
            <a:br/>
            <a:r>
              <a:t>每流失一位资深工程师</a:t>
            </a:r>
            <a:br/>
            <a:r>
              <a:t>需 2-3 年重新培养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6576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知识归零</a:t>
            </a:r>
            <a:br/>
            <a:r>
              <a:t>重复交学费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3657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4747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146304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决策质量不一致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老手与新手分析</a:t>
            </a:r>
            <a:br/>
            <a:r>
              <a:t>质量差距达 10 倍</a:t>
            </a:r>
            <a:br/>
            <a:r>
              <a:t>决策取决于「今天谁值班」</a:t>
            </a:r>
            <a:br/>
            <a:r>
              <a:t>而非组织能力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576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数千万数据基础设施</a:t>
            </a:r>
            <a:br/>
            <a:r>
              <a:t>产出仍靠个人能力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13716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市场上缺什么？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8"/>
                </a:solidFill>
                <a:latin typeface="Microsoft YaHei"/>
              </a:defRPr>
            </a:pPr>
            <a:r>
              <a:t>缺一个同时具备的产品：连接企业数据 + 沉淀行业 Know-how + AI 多步决策执行 + 安全合规 + 可插拔定制</a:t>
            </a:r>
            <a:br/>
            <a:r>
              <a:t>每一项单独都有人做，但组合在一起的没有 -- 这就是 DTS 的位置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市场规模 TAM / SAM / SOM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9184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Microsoft YaHe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2,500 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中国企业 AI 应用市场</a:t>
            </a:r>
            <a:br/>
            <a:r>
              <a:t>2026 年 年增速 35%+</a:t>
            </a:r>
            <a:br/>
            <a:r>
              <a:t>决策智能细分 ~800 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29184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29184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  <a:latin typeface="Microsoft YaHe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310 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能源 ~120 亿</a:t>
            </a:r>
            <a:br/>
            <a:r>
              <a:t>科研院所 ~40 亿</a:t>
            </a:r>
            <a:br/>
            <a:r>
              <a:t>先进制造 ~150 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88720"/>
            <a:ext cx="329184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29184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C76F"/>
                </a:solidFill>
                <a:latin typeface="Microsoft YaHei"/>
              </a:defRPr>
            </a:pPr>
            <a:r>
              <a:t>SOM (3 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 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Y1: 800 万 (2-3 客户)</a:t>
            </a:r>
            <a:br/>
            <a:r>
              <a:t>Y2: 3,500 万 (8-12 客户)</a:t>
            </a:r>
            <a:br/>
            <a:r>
              <a:t>Y3: 1 亿 (20+ 客户)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目标行业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25603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能源/电网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200-500 万/年</a:t>
            </a:r>
            <a:br/>
            <a:r>
              <a:t>调度优化 | 设备维保</a:t>
            </a:r>
            <a:br/>
            <a:r>
              <a:t>负荷预测 | 安全监控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4572000"/>
            <a:ext cx="25603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科研院所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166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50-150 万/年</a:t>
            </a:r>
            <a:br/>
            <a:r>
              <a:t>实验数据管理</a:t>
            </a:r>
            <a:br/>
            <a:r>
              <a:t>智能分析 | 论文辅助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572000"/>
            <a:ext cx="25603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先进制造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66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100-300 万/年</a:t>
            </a:r>
            <a:br/>
            <a:r>
              <a:t>质量决策 | 排产优化</a:t>
            </a:r>
            <a:br/>
            <a:r>
              <a:t>供应链管理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4572000"/>
            <a:ext cx="25603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新能源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166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100-200 万/年</a:t>
            </a:r>
            <a:br/>
            <a:r>
              <a:t>风电/光伏/储能</a:t>
            </a:r>
            <a:br/>
            <a:r>
              <a:t>运维决策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Decision Twin -- 决策过程的数字孪生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不是模拟物理设备，而是复制专家的决策能力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Digital Twin (物理孪生)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Decision Twin (决策孪生)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孪生对象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物理设备的结构和状态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C76F"/>
                </a:solidFill>
                <a:latin typeface="Microsoft YaHei"/>
              </a:defRPr>
            </a:pPr>
            <a:r>
              <a:t>专家的决策过程和判断逻辑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模拟物理行为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C76F"/>
                </a:solidFill>
                <a:latin typeface="Microsoft YaHei"/>
              </a:defRPr>
            </a:pPr>
            <a:r>
              <a:t>复制决策能力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关键输入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传感器数据、CAD 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C76F"/>
                </a:solidFill>
                <a:latin typeface="Microsoft YaHei"/>
              </a:defRPr>
            </a:pPr>
            <a:r>
              <a:t>隐性知识、业务规则、行业经验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关键输出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204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设备状态预测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204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C76F"/>
                </a:solidFill>
                <a:latin typeface="Microsoft YaHei"/>
              </a:defRPr>
            </a:pPr>
            <a:r>
              <a:t>决策建议、行动方案、分析报告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77639"/>
            <a:ext cx="10058400" cy="4572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技术基础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IoT + 仿真引擎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C76F"/>
                </a:solidFill>
                <a:latin typeface="Microsoft YaHei"/>
              </a:defRPr>
            </a:pPr>
            <a:r>
              <a:t>Ontology + AI Agent + KnowHow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10698480" cy="18288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一句话定义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8"/>
                </a:solidFill>
                <a:latin typeface="Microsoft YaHei"/>
              </a:defRPr>
            </a:pPr>
            <a:r>
              <a:t>Decision Twin 把企业的数据资产、业务规则、行业知识编织成一个能替决策者「想」的系统。</a:t>
            </a:r>
            <a:br/>
            <a:r>
              <a:t>不是替代人决策，而是让每个人都拥有专家级的决策能力。</a:t>
            </a:r>
            <a:br/>
            <a:br/>
            <a:r>
              <a:t>核心公式：Ontology (认知基座) + Intent (意图理解) + Agent (自主执行)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为什么现有方案解决不了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通用 AI</a:t>
            </a:r>
            <a:br/>
            <a:r>
              <a:t>ChatGPT/文心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没有企业数据</a:t>
            </a:r>
            <a:br/>
            <a:r>
              <a:t>不能离线部署</a:t>
            </a:r>
            <a:br/>
            <a:r>
              <a:t>不沉淀行业知识</a:t>
            </a:r>
            <a:br/>
            <a:r>
              <a:t>数据安全不可控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0944" y="1188720"/>
            <a:ext cx="201168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8103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BI 工具</a:t>
            </a:r>
            <a:br/>
            <a:r>
              <a:t>帆软/Tableau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只能「看」不能「做」</a:t>
            </a:r>
            <a:br/>
            <a:r>
              <a:t>没有 AI 决策能力</a:t>
            </a:r>
            <a:br/>
            <a:r>
              <a:t>没有行业 Know-how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1188720"/>
            <a:ext cx="201168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 搭建平台</a:t>
            </a:r>
            <a:br/>
            <a:r>
              <a:t>Coze/Dify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轻量 Agent 搭建</a:t>
            </a:r>
            <a:br/>
            <a:r>
              <a:t>没有数据治理</a:t>
            </a:r>
            <a:br/>
            <a:r>
              <a:t>无行业深度</a:t>
            </a:r>
            <a:br/>
            <a:r>
              <a:t>不能离线部署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188720"/>
            <a:ext cx="201168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大厂平台</a:t>
            </a:r>
            <a:br/>
            <a:r>
              <a:t>阿里/华为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做通用平台</a:t>
            </a:r>
            <a:br/>
            <a:r>
              <a:t>不深耕行业 Know-how</a:t>
            </a:r>
            <a:br/>
            <a:r>
              <a:t>政企客户不想被锁定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9216" y="1188720"/>
            <a:ext cx="2011680" cy="2926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66376" y="1280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外包定制</a:t>
            </a:r>
            <a:br/>
            <a:r>
              <a:t>SI 做项目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6376" y="20116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Microsoft YaHei"/>
              </a:defRPr>
            </a:pPr>
            <a:r>
              <a:t>做一个项目的知识</a:t>
            </a:r>
            <a:br/>
            <a:r>
              <a:t>不能复用到下一个</a:t>
            </a:r>
            <a:br/>
            <a:r>
              <a:t>乙方走了系统就废了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0698480" cy="201168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DTS 的位置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8"/>
                </a:solidFill>
                <a:latin typeface="Microsoft YaHei"/>
              </a:defRPr>
            </a:pPr>
            <a:r>
              <a:t>同时具备五个要素：连接企业数据 + 沉淀行业 Know-how + AI 多步决策执行 + 安全合规 + 可插拔定制</a:t>
            </a:r>
            <a:br/>
            <a:br/>
            <a:r>
              <a:t>不和 ChatGPT 比通用能力 | 不和帆软比报表数量 | 做「AI + 行业数据 + Know-how 沉淀」的交叉地带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产品架构：三支柱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设计、运行、应用三个关注点清晰分离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Microsoft YaHei"/>
              </a:defRPr>
            </a:pPr>
            <a:r>
              <a:t>dts-studio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设计中心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Ontology 建模</a:t>
            </a:r>
            <a:br/>
            <a:r>
              <a:t>Skill 开发</a:t>
            </a:r>
            <a:br/>
            <a:r>
              <a:t>AppPack 打包发布</a:t>
            </a:r>
            <a:br/>
            <a:r>
              <a:t>统一 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34747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Microsoft YaHei"/>
              </a:defRPr>
            </a:pPr>
            <a:r>
              <a:t>dts-stack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Agent 能力中心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060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25 个微服务</a:t>
            </a:r>
            <a:br/>
            <a:r>
              <a:t>57 个 AI 技能</a:t>
            </a:r>
            <a:br/>
            <a:r>
              <a:t>DAP 协议运行时</a:t>
            </a:r>
            <a:br/>
            <a:r>
              <a:t>五条铁律保障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app-stack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 Agent 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060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行业 AppPack</a:t>
            </a:r>
            <a:br/>
            <a:r>
              <a:t>客户定制 Pack</a:t>
            </a:r>
            <a:br/>
            <a:r>
              <a:t>KnowHow 资产</a:t>
            </a:r>
            <a:br/>
            <a:r>
              <a:t>ISV 开发的 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2A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  <a:latin typeface="Microsoft YaHei"/>
              </a:defRPr>
            </a:pPr>
            <a:r>
              <a:t>DAP 协议贯穿三支柱 -- 定义 AI Agent 如何理解物理世界并执行决策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三语言协作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2560320" cy="10058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806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10 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AI 核心层</a:t>
            </a:r>
            <a:br/>
            <a:r>
              <a:t>Agent/Intent/RAG/Eval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5760720"/>
            <a:ext cx="2560320" cy="10058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806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10 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业务平台层</a:t>
            </a:r>
            <a:br/>
            <a:r>
              <a:t>CRUD/RBAC/安全/存储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760720"/>
            <a:ext cx="2560320" cy="10058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806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2 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基础设施层</a:t>
            </a:r>
            <a:br/>
            <a:r>
              <a:t>K8s Operator/CLI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5760720"/>
            <a:ext cx="2560320" cy="10058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React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806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3 应用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8"/>
                </a:solidFill>
                <a:latin typeface="Microsoft YaHei"/>
              </a:defRPr>
            </a:pPr>
            <a:r>
              <a:t>前端层</a:t>
            </a:r>
            <a:br/>
            <a:r>
              <a:t>Admin/Cortex/Pilot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DAP 协议 -- 产品核心护城河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DTS Agent Protocol: 定义 AI Agent 如何理解物理世界并执行决策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" cy="65836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Audit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决策可追溯性保障</a:t>
            </a:r>
            <a:br/>
            <a:r>
              <a:t>CloudEvents 标准, append-only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04288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04288"/>
            <a:ext cx="109728" cy="658368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Microsoft YaHei"/>
              </a:defRPr>
            </a:pPr>
            <a:r>
              <a:t>L4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Security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身份与权限在 Agent 间传递</a:t>
            </a:r>
            <a:br/>
            <a:r>
              <a:t>JWT + 零信任校验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54096"/>
            <a:ext cx="10972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27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27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Intent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2724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自然语言 -&gt; 结构化意图 -&gt; 执行计划</a:t>
            </a:r>
            <a:br/>
            <a:r>
              <a:t>支持条件执行和风险分级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03904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03904"/>
            <a:ext cx="109728" cy="65836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770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877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Skill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77056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AI 技能定义/注册/调用/编排</a:t>
            </a:r>
            <a:br/>
            <a:r>
              <a:t>gRPC 标准接口 + 流式响应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53712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53712"/>
            <a:ext cx="109728" cy="65836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268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26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Ontology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26864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物理世界 -&gt; 数字映射标准格式</a:t>
            </a:r>
            <a:br/>
            <a:r>
              <a:t>ObjectType/Relationship/Metric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65836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303520"/>
            <a:ext cx="109728" cy="65836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376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BB"/>
                </a:solidFill>
                <a:latin typeface="Microsoft YaHei"/>
              </a:defRPr>
            </a:pPr>
            <a:r>
              <a:t>L0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376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Transport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37667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gRPC (控制面) + Kafka (数据面) + SSE (流式面)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126480"/>
            <a:ext cx="10698480" cy="64008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172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代码可以被重写，协议定义的生态不能 | 客户迁移成本 = 丢失核心竞争力 | 类比：Android 护城河不是 AOSP 代码，而是 Google Play 生态协议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知识战略：Polanyi + LeCun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传统数据平台假设知识 = 可量化数据，但真正驱动决策的知识大部分不是数据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" cy="13716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Michael Polanyi (波兰尼)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缄默知识理论: We know more than we can tell</a:t>
            </a:r>
            <a:br/>
            <a:r>
              <a:t>企业最有价值的知识在专家脑子里，传统系统无法存储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02920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109728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Yann LeCun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Beyond Language Modeling: 语言只是物理世界的投影</a:t>
            </a:r>
            <a:br/>
            <a:r>
              <a:t>通用预训练 + 1% 领域数据即可涌现理解能力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五层知识金字塔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47548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91440" cy="47548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Microsoft YaHei"/>
              </a:defRPr>
            </a:pPr>
            <a: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世界模型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3657600"/>
            <a:ext cx="6583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Agent 预测操作后果: State+Action-&gt;Next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86FC"/>
                </a:solidFill>
                <a:latin typeface="Microsoft YaHei"/>
              </a:defRPr>
            </a:pPr>
            <a:r>
              <a:t>远期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160520"/>
            <a:ext cx="10149840" cy="47548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160520"/>
            <a:ext cx="91440" cy="4754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icrosoft YaHei"/>
              </a:defRPr>
            </a:pPr>
            <a: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隐性模式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206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专家没说但一直在用的规则，多模态行为推断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206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中期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709160"/>
            <a:ext cx="9601200" cy="47548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0160" y="4709160"/>
            <a:ext cx="91440" cy="4754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潜在知识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专家能说但没人问过的判断逻辑 (Gen-Ba 碎片提取)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Microsoft YaHei"/>
              </a:defRPr>
            </a:pPr>
            <a:r>
              <a:t>短期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5257800"/>
            <a:ext cx="9052559" cy="47548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54480" y="5257800"/>
            <a:ext cx="91440" cy="47548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显性结构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3035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数据字典、行业标准、系统表结构 (传统 Ontology)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5303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D6"/>
                </a:solidFill>
                <a:latin typeface="Microsoft YaHei"/>
              </a:defRPr>
            </a:pPr>
            <a:r>
              <a:t>当前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806440"/>
            <a:ext cx="8503919" cy="475488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0" y="5806440"/>
            <a:ext cx="91440" cy="47548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5852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BB"/>
                </a:solidFill>
                <a:latin typeface="Microsoft YaHei"/>
              </a:defRPr>
            </a:pPr>
            <a:r>
              <a:t>L0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8521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多模态感知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852159"/>
            <a:ext cx="4389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视觉+声音+时序+文本 (身体化知识)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19" y="58521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基础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传统 BI/数据中台只覆盖 L1 | DTS 目标: 逐步覆盖 L0-L4，构建企业对物理世界的完整认知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KnowHow 提取流水线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超越 Nonaka SECI: 在决策瞬间自然追问，而非系统性访谈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影子观察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AI Agent 静默观察</a:t>
            </a:r>
            <a:br/>
            <a:r>
              <a:t>专家日常决策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不干扰工作流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0"/>
            <a:ext cx="25603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碎片外化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决策瞬间自然追问</a:t>
            </a:r>
            <a:br/>
            <a:r>
              <a:t>「为什么选择提前维保？」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74903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容许不完整</a:t>
            </a:r>
            <a:br/>
            <a:r>
              <a:t>容许矛盾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松散组合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LLM 将碎片聚类</a:t>
            </a:r>
            <a:br/>
            <a:r>
              <a:t>去矛盾、补全</a:t>
            </a:r>
            <a:br/>
            <a:r>
              <a:t>生成 KnowHow 草稿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3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追求「够用的近似」</a:t>
            </a:r>
            <a:br/>
            <a:r>
              <a:t>非完美转化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645920"/>
            <a:ext cx="25603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协作内化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KnowHow 转为 Skill</a:t>
            </a:r>
            <a:br/>
            <a:r>
              <a:t>与专家并行运行</a:t>
            </a:r>
            <a:br/>
            <a:r>
              <a:t>持续校正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74903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评测套件量化准确率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120640"/>
            <a:ext cx="10698480" cy="146304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与 SECI 模型的本质区别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SECI 假设隐性知识能被「完全转化」为显性知识 -- 这是认识论幻觉。</a:t>
            </a:r>
            <a:br/>
            <a:r>
              <a:t>DTS 承认隐性知识有不可消除的缄默维度，只追求「够用的近似」，</a:t>
            </a:r>
            <a:br/>
            <a:r>
              <a:t>剩余不确定性由人工介入 (HITL) 覆盖 -- 这正是铁律 #1 的认识论基础。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商业模式：知识资产平台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三层收入 -- 不是 SaaS 卖功能，而是让知识流动产生价值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Microsoft YaHei"/>
              </a:defRPr>
            </a:pPr>
            <a:r>
              <a:t>第一层: 平台基础费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Year 3 占比 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按部署规模年费</a:t>
            </a:r>
            <a:br/>
            <a:r>
              <a:t>标准版 30-80 万</a:t>
            </a:r>
            <a:br/>
            <a:r>
              <a:t>企业版 100-300 万</a:t>
            </a:r>
            <a:br/>
            <a:r>
              <a:t>不按人头 -&gt; 鼓励全员使用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Microsoft YaHei"/>
              </a:defRPr>
            </a:pPr>
            <a:r>
              <a:t>第二层: AppPack 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Year 3 占比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行业能力包按需购买</a:t>
            </a:r>
            <a:br/>
            <a:r>
              <a:t>10-50 万/个/年</a:t>
            </a:r>
            <a:br/>
            <a:r>
              <a:t>客户/ISV/专家创建</a:t>
            </a:r>
            <a:br/>
            <a:r>
              <a:t>平台抽成 30%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第三层: KnowHow 交易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Year 3 占比 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专家经验 -&gt; 结构化 KnowHow</a:t>
            </a:r>
            <a:br/>
            <a:r>
              <a:t>发布到市场，按使用量分润</a:t>
            </a:r>
            <a:br/>
            <a:r>
              <a:t>知识资产的 App Store</a:t>
            </a:r>
            <a:br/>
            <a:r>
              <a:t>越用越值钱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9728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Microsoft YaHei"/>
              </a:defRPr>
            </a:pPr>
            <a:r>
              <a:t>专业服务 (Y3: 25%)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实施+定制+培训 | 行业深度咨询 | 5 天 POV 交付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846320"/>
            <a:ext cx="5029200" cy="914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「越用越值钱」飞轮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创建能力包 -&gt; 知识沉淀 -&gt; 不可替代 -&gt; 续费率升 -&gt; 吸引创作者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客户分层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309360"/>
            <a:ext cx="347472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旗舰客户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央企/大型国企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39" y="6336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200-500 万/年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6309360"/>
            <a:ext cx="347472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Microsoft YaHei"/>
              </a:defRPr>
            </a:pPr>
            <a:r>
              <a:t>标准客户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中大型企业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6336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50-150 万/年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6309360"/>
            <a:ext cx="3474720" cy="457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中小客户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336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数据驱动型中小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36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10-30 万/年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落地策略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四阶段路线图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0-6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影子先行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显性 Ontology</a:t>
            </a:r>
            <a:br/>
            <a:r>
              <a:t>+ Intent + Skill</a:t>
            </a:r>
            <a:br/>
            <a:r>
              <a:t>全链路跑通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D6"/>
                </a:solidFill>
                <a:latin typeface="Microsoft YaHei"/>
              </a:defRPr>
            </a:pPr>
            <a:r>
              <a:t>知识层级: L1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63040"/>
            <a:ext cx="25603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463040"/>
            <a:ext cx="25603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6-12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碎片积累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331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KnowHow 提取上线</a:t>
            </a:r>
            <a:br/>
            <a:r>
              <a:t>2-3 个标杆客户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Microsoft YaHei"/>
              </a:defRPr>
            </a:pPr>
            <a:r>
              <a:t>知识层级: L0-L2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25603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2560320" cy="73152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76F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12-18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模式涌现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隐性模式推断</a:t>
            </a:r>
            <a:br/>
            <a:r>
              <a:t>AppPack 市场 Beta</a:t>
            </a:r>
            <a:br/>
            <a:r>
              <a:t>5-8 个客户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C76F"/>
                </a:solidFill>
                <a:latin typeface="Microsoft YaHei"/>
              </a:defRPr>
            </a:pPr>
            <a:r>
              <a:t>知识层级: 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463040"/>
            <a:ext cx="256032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463040"/>
            <a:ext cx="25603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45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18 月+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寓居深化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持续演进</a:t>
            </a:r>
            <a:br/>
            <a:r>
              <a:t>跨客户知识迁移</a:t>
            </a:r>
            <a:br/>
            <a:r>
              <a:t>世界模型探索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知识层级: L3-L4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 天 POV -- 用客户数据证明价值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480560"/>
            <a:ext cx="20116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环境部署 + 接入</a:t>
            </a:r>
            <a:br/>
            <a:r>
              <a:t>1-2 个核心数据源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80944" y="4480560"/>
            <a:ext cx="20116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18103" y="4526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8103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安装行业 AppPack</a:t>
            </a:r>
            <a:br/>
            <a:r>
              <a:t>+ Ontology 建模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30368" y="4480560"/>
            <a:ext cx="20116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67528" y="4526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端到端演示</a:t>
            </a:r>
            <a:br/>
            <a:r>
              <a:t>自然语言-&gt;报告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79792" y="4480560"/>
            <a:ext cx="20116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16952" y="4526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客户自行试用</a:t>
            </a:r>
            <a:br/>
            <a:r>
              <a:t>收集反馈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29216" y="4480560"/>
            <a:ext cx="20116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66376" y="4526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Day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价值对齐</a:t>
            </a:r>
            <a:br/>
            <a:r>
              <a:t>POV 报告 + 商务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852160"/>
            <a:ext cx="10698480" cy="82296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核心承诺：不搬数据 (JDBC 直连) | 不改系统 (与现有 IT 共存) | 不绑架客户 (任何阶段可无损退出)</a:t>
            </a:r>
            <a:br/>
            <a:r>
              <a:t>「你之前的投资解决了'有没有数据'。DTS 解决'数据能不能做决策'。不是替换，是让已有投资增值。」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竞争格局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01168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Palantir</a:t>
            </a:r>
            <a:br/>
            <a:r>
              <a:t>Foundry/AIP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产品成熟</a:t>
            </a:r>
            <a:br/>
            <a:r>
              <a:t>标杆客户(CIA/Airbus)</a:t>
            </a:r>
            <a:br/>
            <a:r>
              <a:t>重咨询 $1M+/年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开放生态 vs 封闭</a:t>
            </a:r>
            <a:br/>
            <a:r>
              <a:t>中国市场</a:t>
            </a:r>
            <a:br/>
            <a:r>
              <a:t>价格 1/3-1/5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0944" y="1097280"/>
            <a:ext cx="201168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Manus AI</a:t>
            </a:r>
            <a:br/>
            <a:r>
              <a:t>通用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$100M ARR/8月</a:t>
            </a:r>
            <a:br/>
            <a:r>
              <a:t>Meta $2B 收购意向</a:t>
            </a:r>
            <a:br/>
            <a:r>
              <a:t>通用 Agent 执行器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无行业深度</a:t>
            </a:r>
            <a:br/>
            <a:r>
              <a:t>无数据安全</a:t>
            </a:r>
            <a:br/>
            <a:r>
              <a:t>无知识沉淀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097280"/>
            <a:ext cx="201168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Coze/Dify</a:t>
            </a:r>
            <a:br/>
            <a:r>
              <a:t>AI 搭建平台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灵活、上手快</a:t>
            </a:r>
            <a:br/>
            <a:r>
              <a:t>开发者友好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企业级安全</a:t>
            </a:r>
            <a:br/>
            <a:r>
              <a:t>+ Ontology</a:t>
            </a:r>
            <a:br/>
            <a:r>
              <a:t>+ 行业知识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9792" y="1097280"/>
            <a:ext cx="2011680" cy="32004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阿里/华为</a:t>
            </a:r>
            <a:br/>
            <a:r>
              <a:t>大厂平台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成熟数据治理</a:t>
            </a:r>
            <a:br/>
            <a:r>
              <a:t>大客户关系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决策能力 vs</a:t>
            </a:r>
            <a:br/>
            <a:r>
              <a:t>只有数据工程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6" y="1097280"/>
            <a:ext cx="2011680" cy="32004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DTS</a:t>
            </a:r>
            <a:br/>
            <a:r>
              <a:t>决策孪生系统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8"/>
                </a:solidFill>
                <a:latin typeface="Microsoft YaHei"/>
              </a:defRPr>
            </a:pPr>
            <a:r>
              <a:t>连数据+沉淀知识</a:t>
            </a:r>
            <a:br/>
            <a:r>
              <a:t>+AI 决策+安全合规</a:t>
            </a:r>
            <a:br/>
            <a:r>
              <a:t>+行业能力包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656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C76F"/>
                </a:solidFill>
                <a:latin typeface="Microsoft YaHei"/>
              </a:defRPr>
            </a:pPr>
            <a:r>
              <a:t>唯一同时具备</a:t>
            </a:r>
            <a:br/>
            <a:r>
              <a:t>五个要素的平台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10698480" cy="10058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Manus 的启示与警示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正面: Agent 市场需求真实  |  反面: 通用 Agent 无行业壁垒 -&gt; 被模型厂商吞掉</a:t>
            </a:r>
            <a:br/>
            <a:r>
              <a:t>DTS 做「模型厂商不愿做的脏活累活」: 连数据、懂行业、管安全、沉淀知识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698480" cy="9144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护城河深度: DAP 协议生态 (3-5年) &gt; KnowHow 资产锁定 (不可复制) &gt; 行业 Ontology (2-3年) &gt; 技术架构 (1-2年)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五条不可动摇的原则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客户最关心的问题：「万一 AI 出错怎么办？」-- 这五条就是答案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868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594360" cy="5943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人工随时可接管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1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删掉 AI，系统仍 100% 可用。任何步骤可人工接管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560320"/>
            <a:ext cx="594360" cy="5943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核心安全不可绕过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80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所有请求必经 dts-gateway，无旁路直连，AppPack 无特权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10698480" cy="868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566160"/>
            <a:ext cx="594360" cy="594360"/>
          </a:xfrm>
          <a:prstGeom prst="ellipse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数据安全是基因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所有数据出口必经 dts-data-security，AI 只看授权数据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572000"/>
            <a:ext cx="594360" cy="5943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全操作可追溯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人和 AI 的操作 -&gt; Kafka -&gt; dts-audit-log，append-only 不可篡改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0698480" cy="868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577840"/>
            <a:ext cx="594360" cy="59436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能力先于界面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897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Microsoft YaHei"/>
              </a:defRPr>
            </a:pPr>
            <a:r>
              <a:t>API-first，先有完整 API + 测试，再做前端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竞争壁垒与风险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53035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Microsoft YaHei"/>
              </a:defRPr>
            </a:pPr>
            <a:r>
              <a:t>DAP 协议生态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协议+生态不可快速复制 (3-5 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10698480" cy="53035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Microsoft YaHei"/>
              </a:defRPr>
            </a:pPr>
            <a:r>
              <a:t>KnowHow 资产锁定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647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客户积累的行业知识不可复制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40864"/>
            <a:ext cx="10698480" cy="53035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865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C76F"/>
                </a:solidFill>
                <a:latin typeface="Microsoft YaHei"/>
              </a:defRPr>
            </a:pPr>
            <a:r>
              <a:t>行业 Ontology 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8658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需真实项目积累 (2-3 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62656"/>
            <a:ext cx="10698480" cy="53035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083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YaHei"/>
              </a:defRPr>
            </a:pPr>
            <a:r>
              <a:t>五条铁律架构保障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0837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架构级别，不是功能补丁 (1-2 年)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84448"/>
            <a:ext cx="10698480" cy="53035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30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AppPack 网络效应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301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开发者+客户同时积累 (2-3 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D4D"/>
                </a:solidFill>
                <a:latin typeface="Microsoft YaHei"/>
              </a:defRPr>
            </a:pPr>
            <a:r>
              <a:t>LLM 幻觉/出错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DAP 安全多层校验</a:t>
            </a:r>
            <a:br/>
            <a:r>
              <a:t>+ HITL + 铁律 #1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D4D"/>
                </a:solidFill>
                <a:latin typeface="Microsoft YaHei"/>
              </a:defRPr>
            </a:pPr>
            <a:r>
              <a:t>大厂入局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行业 KnowHow 壁垒</a:t>
            </a:r>
            <a:br/>
            <a:r>
              <a:t>大厂不做脏活累活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D4D"/>
                </a:solidFill>
                <a:latin typeface="Microsoft YaHei"/>
              </a:defRPr>
            </a:pPr>
            <a:r>
              <a:t>客户不付费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5 天 POV 真实数据</a:t>
            </a:r>
            <a:br/>
            <a:r>
              <a:t>用结果说话再签约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4754880"/>
            <a:ext cx="2560320" cy="12801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D4D"/>
                </a:solidFill>
                <a:latin typeface="Microsoft YaHei"/>
              </a:defRPr>
            </a:pPr>
            <a:r>
              <a:t>通用 Agent 降维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Manus 证明: 通用无壁垒</a:t>
            </a:r>
            <a:br/>
            <a:r>
              <a:t>行业深度才是差异化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21792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人才风险应对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263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分离关注点: AI 工程师不需懂行业, 行业顾问不需懂 AI | 知识沉淀在系统中, 不在个人脑中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财务预测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01752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Year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59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Year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平台基础费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36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400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36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1,500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1536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3,800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75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AppPack 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751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100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751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700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9751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2,800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1401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KnowHow 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140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4140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100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4140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900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52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专业服务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250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800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2,000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硬件集成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50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400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8"/>
                </a:solidFill>
                <a:latin typeface="Microsoft YaHei"/>
              </a:defRPr>
            </a:pPr>
            <a:r>
              <a:t>500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30752"/>
            <a:ext cx="9966959" cy="365760"/>
          </a:xfrm>
          <a:prstGeom prst="rect">
            <a:avLst/>
          </a:prstGeom>
          <a:solidFill>
            <a:srgbClr val="0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总收入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800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3,500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1 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关键指标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客户数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84632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续费率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84632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EBITDA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-200万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1,700万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7,100万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4846320"/>
            <a:ext cx="256032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利润率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-25%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49%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5212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C76F"/>
                </a:solidFill>
                <a:latin typeface="Microsoft YaHei"/>
              </a:defRPr>
            </a:pPr>
            <a:r>
              <a:t>71%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5577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Y3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Microsoft YaHei"/>
              </a:defRPr>
            </a:pPr>
            <a:r>
              <a:t>Y1 亏损可控 (200 万) | 盈亏平衡: 第 15 个月 | Y3 利润率 71% -- 知识资产平台的典型曲线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融资计划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0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Microsoft YaHei"/>
              </a:defRPr>
            </a:pPr>
            <a:r>
              <a:t>种子轮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融资金额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920240"/>
            <a:ext cx="3200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lang="en-US"/>
              <a:t>1</a:t>
            </a:r>
            <a:r>
              <a:t>,000 万 RMB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出让股份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10-15%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投前估值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1.3-2.0 亿 RMB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估值逻辑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Y3 收入 1 亿 x 8-12x PS -&gt; 种子轮折扣 60-80%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资金用途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828800"/>
            <a:ext cx="438912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核心研发 (60%)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847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1,200 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331720"/>
            <a:ext cx="1828800" cy="320040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市场拓展 (25%)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500 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834640"/>
            <a:ext cx="109728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运营储备 (15%)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300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里程碑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Microsoft YaHei"/>
              </a:defRPr>
            </a:pPr>
            <a:r>
              <a:t>M1: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+6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25 微服务上线</a:t>
            </a:r>
            <a:br/>
            <a:r>
              <a:t>端到端跑通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11480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11480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Microsoft YaHei"/>
              </a:defRPr>
            </a:pPr>
            <a:r>
              <a:t>M2: 首个标杆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+9 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1 个付费客户</a:t>
            </a:r>
            <a:br/>
            <a:r>
              <a:t>年合同 100 万+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11480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114800"/>
            <a:ext cx="2560320" cy="54864"/>
          </a:xfrm>
          <a:prstGeom prst="rect">
            <a:avLst/>
          </a:prstGeom>
          <a:solidFill>
            <a:srgbClr val="28C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C76F"/>
                </a:solidFill>
                <a:latin typeface="Microsoft YaHei"/>
              </a:defRPr>
            </a:pPr>
            <a:r>
              <a:t>M3: Pack 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+12 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2 个 AppPack</a:t>
            </a:r>
            <a:br/>
            <a:r>
              <a:t>复用率 &gt; 50%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114800"/>
            <a:ext cx="2560320" cy="13716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411480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M4: 准备 A 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+15 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72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ARR 500 万+</a:t>
            </a:r>
            <a:br/>
            <a:r>
              <a:t>5+ 付费客户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后续融资 &amp; 退出路径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6035040"/>
            <a:ext cx="502920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A 轮 (+15-18月): 5,000-8,000 万 | B 轮 (+30月): 2-3 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6035040"/>
            <a:ext cx="502920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  <a:latin typeface="Microsoft YaHei"/>
              </a:defRPr>
            </a:pPr>
            <a:r>
              <a:t>IPO (科创板) | 战略并购 (华为/阿里) | 生态拆分上市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Decision Twins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96D6"/>
                </a:solidFill>
                <a:latin typeface="Microsoft YaHei"/>
              </a:defRPr>
            </a:pPr>
            <a:r>
              <a:t>把专家脑中的隐性经验变成系统里能自动运转的能力包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核心公式: Ontology (认知基座) + Intent (意图理解) + Agent (自主执行)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三大支柱: dts-studio (设计) + dts-stack (运行) + app-stack (应用)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25 微服务 + 57 AI 技能 + DAP 五层协议构建生态护城河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知识战略: Polanyi 缄默知识 + LeCun 1% 领域数据涌现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商业模式: 平台基础费 + AppPack 市场 + KnowHow 交易 -- 越用越值钱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五条铁律: 人工接管 | 安全不绕过 | 数据安全基因 | 全操作追溯 | 能力先于界面</a:t>
            </a:r>
          </a:p>
          <a:p>
            <a:pPr>
              <a:spcAft>
                <a:spcPts val="800"/>
              </a:spcAft>
              <a:defRPr sz="1900">
                <a:solidFill>
                  <a:srgbClr val="E0E0E8"/>
                </a:solidFill>
                <a:latin typeface="Microsoft YaHei"/>
              </a:defRPr>
            </a:pPr>
            <a:r>
              <a:t>Y3 目标: 1 亿收入, 71% 利润率, 48 个客户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C76F"/>
                </a:solidFill>
                <a:latin typeface="Microsoft YaHei"/>
              </a:defRPr>
            </a:pPr>
            <a:r>
              <a:t>种子轮融资 2,000 万 -- 邀请您共同定义企业 AI 决策的未来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Ontology + Intent + Agent = Decision Twins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7140</Words>
  <Application>WPS 演示</Application>
  <PresentationFormat>On-screen Show (4:3)</PresentationFormat>
  <Paragraphs>881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DejaVu Sans</vt:lpstr>
      <vt:lpstr>Microsoft YaHei</vt:lpstr>
      <vt:lpstr>Droid Sans Fallback</vt:lpstr>
      <vt:lpstr>Calibri</vt:lpstr>
      <vt:lpstr>Microsoft YaHei</vt:lpstr>
      <vt:lpstr>Arial Unicode MS</vt:lpstr>
      <vt:lpstr>Noto Serif CJK SC</vt:lpstr>
      <vt:lpstr>SimSun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billy</cp:lastModifiedBy>
  <cp:revision>4</cp:revision>
  <dcterms:created xsi:type="dcterms:W3CDTF">2026-03-12T02:27:18Z</dcterms:created>
  <dcterms:modified xsi:type="dcterms:W3CDTF">2026-03-12T02:27:18Z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6B171D24E201A9464424B269E7906D0D_42</vt:lpwstr>
  </property>
  <property fmtid="{D5CDD505-2E9C-101B-9397-08002B2CF9AE}" pid="3" name="KSOProductBuildVer">
    <vt:lpwstr>2052-12.1.2.24722</vt:lpwstr>
  </property>
</Properties>
</file>