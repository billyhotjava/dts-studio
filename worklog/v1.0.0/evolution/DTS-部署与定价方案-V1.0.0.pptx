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03120"/>
            <a:ext cx="13716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DTS 部署模式与硬件定价方案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D6"/>
                </a:solidFill>
                <a:latin typeface="Microsoft YaHei"/>
              </a:defRPr>
            </a:pPr>
            <a:r>
              <a:t>Decision Twins System — Deployment &amp; Pricing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软硬一体交付，覆盖中小企业到政府信创全场景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2026-03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市场洞察 — 为什么需要软硬一体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3200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64592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软件无形，硬件有形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客户更愿意为看得见摸得着的硬件付费</a:t>
            </a:r>
            <a:br/>
            <a:r>
              <a:t>软件价值认知薄弱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32004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1999" y="164592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预算科目限制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603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很多企事业单位有"设备采购"预算</a:t>
            </a:r>
            <a:br/>
            <a:r>
              <a:t>但没有"软件采购"预算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474720" cy="32004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国产化/信创要求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政府、央企、军工必须采购</a:t>
            </a:r>
            <a:br/>
            <a:r>
              <a:t>国产软硬件，通过信创认证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64240" cy="109728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DTS 的回答：两种交付模式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纯软件 — 客户自备硬件/云资源，DTS 提供软件授权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A7"/>
                </a:solidFill>
                <a:latin typeface="Microsoft YaHei"/>
              </a:defRPr>
            </a:pPr>
            <a:r>
              <a:t>软硬一体 — DTS 预装在认证硬件上，整机交付，开箱即用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开箱即用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通电联网即可使用</a:t>
            </a:r>
            <a:br/>
            <a:r>
              <a:t>Day 1 部署 &lt; 1 小时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01168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371600"/>
            <a:ext cx="201168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8C76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平滑升级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346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一体机 → 集群</a:t>
            </a:r>
            <a:br/>
            <a:r>
              <a:t>迁移路径清晰，数据零丢失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371600"/>
            <a:ext cx="201168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371600"/>
            <a:ext cx="20116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灵活定价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346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买断/订阅/整机打包</a:t>
            </a:r>
            <a:br/>
            <a:r>
              <a:t>适配不同投标场景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371600"/>
            <a:ext cx="201168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371600"/>
            <a:ext cx="201168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B86F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信创兼容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8346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国产 CPU + GPU + OS</a:t>
            </a:r>
            <a:br/>
            <a:r>
              <a:t>信创目录认证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371600"/>
            <a:ext cx="201168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371600"/>
            <a:ext cx="20116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硬件开放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83464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不绑定特定厂商</a:t>
            </a:r>
            <a:br/>
            <a:r>
              <a:t>BOM 清单认证制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两大交付模式总览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Microsoft YaHei"/>
              </a:defRPr>
            </a:pPr>
            <a:r>
              <a:t>DTS-Box 一体机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4114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单台服务器承载 DTS 全栈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塔式（中小企业）/ 机架式（政府信创）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适用 5-50 人团队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无需专职 IT 运维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支持离线/涉密网络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预算 ≤ 50 万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三档 SKU: Lite / Pro / Gov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5720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C76F"/>
                </a:solidFill>
                <a:latin typeface="Microsoft YaHei"/>
              </a:defRPr>
            </a:pPr>
            <a:r>
              <a:t>DTS-Cluster 三节点集群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03120"/>
            <a:ext cx="4114800" cy="36576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三台服务器组成 HA 集群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2 台业务互备 + 1 台独立 GPU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适用 100+ 并发用户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生产环境不允许停机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TB 级数据规模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预算 100-400 万</a:t>
            </a:r>
          </a:p>
          <a:p>
            <a:pPr>
              <a:spcAft>
                <a:spcPts val="800"/>
              </a:spcAft>
              <a:defRPr sz="1600">
                <a:solidFill>
                  <a:srgbClr val="E0E0E8"/>
                </a:solidFill>
                <a:latin typeface="Microsoft YaHei"/>
              </a:defRPr>
            </a:pPr>
            <a:r>
              <a:t>两档 SKU: Standard / Gov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DTS-Box Lite — 入门款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096D6"/>
                </a:solidFill>
                <a:latin typeface="Microsoft YaHei"/>
              </a:defRPr>
            </a:pPr>
            <a:r>
              <a:t>¥10万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硬件配置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4114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8C16T+ (x86/ARM)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内存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64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1TB NVMe SSD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无（纯 CPU 推理或外接 API）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K8s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K3s 单节点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53035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能力与场景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920240"/>
            <a:ext cx="4114800" cy="36576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模型能力: 7B 量化模型 / 云端 LLM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并发用户: 5-15 人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DTS 全栈 25 个微服务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全部中间件内置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典型场景: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预算有限的中小企业试点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边缘节点接入中心集群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8"/>
                </a:solidFill>
                <a:latin typeface="Microsoft YaHei"/>
              </a:defRPr>
            </a:pPr>
            <a:r>
              <a:t>形态: 塔式工作站（办公室）或 1U 机架式（机房）  |  含首年软件授权 + 实施部署 + 维保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DTS-Box Pro — 标准款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8C00"/>
                </a:solidFill>
                <a:latin typeface="Microsoft YaHei"/>
              </a:defRPr>
            </a:pPr>
            <a:r>
              <a:t>¥30万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硬件配置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41148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16C32T+ (x86/ARM)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内存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128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2TB NVMe SSD + 4TB HDD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NVIDIA RTX 4090 24GB 或同级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K8s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K3s 单节点，中间件全内置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53035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能力与场景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920240"/>
            <a:ext cx="41148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模型能力: 14B-32B，推理速度良好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并发用户: 15-50 人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完整离线运行 DTS 全栈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本地 LLM 推理（Ollama/vLLM）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典型场景: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中小企业主力款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离线环境完整运行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9A7"/>
                </a:solidFill>
                <a:latin typeface="Microsoft YaHei"/>
              </a:defRPr>
            </a:pPr>
            <a:r>
              <a:t>中小企业最佳性价比之选  |  含首年软件授权 + 实施部署 + 维保 + 基础 AppPack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DTS-Box Gov — 信创款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BB86FC"/>
                </a:solidFill>
                <a:latin typeface="Microsoft YaHei"/>
              </a:defRPr>
            </a:pPr>
            <a:r>
              <a:t>¥45万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硬件配置（全国产化）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41148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鲲鹏 920 / 飞腾 S2500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内存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78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128-256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62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2TB 国产 NVMe SSD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467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46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昇腾 310B / 910B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麒麟 V10 / 统信 UOS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K8s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K3s (ARM64) 单节点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98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认证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98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信创目录认证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53035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能力与场景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920240"/>
            <a:ext cx="41148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模型能力: 14B-70B（视昇腾型号）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并发用户: 15-50 人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全栈国产化替代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物理隔离/涉密网络支持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典型场景: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政府/央企/军工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满足国产化替代硬性要求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信创目录认证项目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8"/>
                </a:solidFill>
                <a:latin typeface="Microsoft YaHei"/>
              </a:defRPr>
            </a:pPr>
            <a:r>
              <a:t>全栈信创  |  国产 CPU + GPU + OS  |  满足等保/分保要求  |  含首年授权 + 实施 + 维保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一体机三档 SKU 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188720"/>
            <a:ext cx="292608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188720"/>
            <a:ext cx="2926080" cy="54864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59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Pro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2926080" cy="54864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Gov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060704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报价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¥10万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¥30万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¥45万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8C16T+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16C32T+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鲲鹏/飞腾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060704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内存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64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128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128-256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RTX 4090 24GB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昇腾 310B/910B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1060704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77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7B / 云端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14B-32B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14B-70B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805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并发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5-15 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15-50 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15-50 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37760"/>
            <a:ext cx="1060704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83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信创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全栈认证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场景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试点/边缘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中小企业主力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政府/军工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A7"/>
                </a:solidFill>
                <a:latin typeface="Microsoft YaHei"/>
              </a:defRPr>
            </a:pPr>
            <a:r>
              <a:t>共性: 全部预装 DTS 全栈 25 微服务 + 全部中间件 + 系统初始化向导 + 含首年授权与维保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出厂预装软件清单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DTS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Java 业务平台 (10 svc)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Python AI 核心 (10 svc)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Go 基础设施 (2 svc)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Frontend (3 webapps)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80160"/>
            <a:ext cx="265176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280160"/>
            <a:ext cx="265176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中间件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031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PostgreSQL (数据存储)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Kafka KRaft (消息总线)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ClickHouse (分析引擎)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Neo4j CE (图数据库)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pgvector + MinIO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Keycloak (认证)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280160"/>
            <a:ext cx="265176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280160"/>
            <a:ext cx="26517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AI 运行时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预置本地 LLM (按档位)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Ollama / vLLM 推理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预置 Embedding 模型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模型管理工具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280160"/>
            <a:ext cx="265176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19" y="1280160"/>
            <a:ext cx="265176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管理工具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1031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dts-cli (命令行)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Grafana (可观测)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系统初始化向导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数据备份/恢复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三节点集群架构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303520"/>
          </a:xfrm>
          <a:prstGeom prst="roundRect">
            <a:avLst/>
          </a:prstGeom>
          <a:solidFill>
            <a:srgbClr val="18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K8s HA Cluster (etcd 3 副本)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474720" cy="41148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Node 1 — 业务+管理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Java 10 services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Go 2 services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Frontend 3 apps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中间件 (HA 主)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etcd member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474720" cy="41148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Node 2 — 业务+管理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4688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Java 10 services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Go 2 services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Frontend 3 apps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中间件 (HA 备)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etcd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互为备份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20240"/>
            <a:ext cx="3108960" cy="41148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C76F"/>
                </a:solidFill>
                <a:latin typeface="Microsoft YaHei"/>
              </a:defRPr>
            </a:pPr>
            <a:r>
              <a:t>Node 3 —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468880"/>
            <a:ext cx="2286000" cy="36576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517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Python AI 10 services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LLM 推理引擎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vLLM / Ollama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GPU: L40S/A800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或 昇腾 910B</a:t>
            </a:r>
          </a:p>
          <a:p>
            <a:pPr>
              <a:spcAft>
                <a:spcPts val="800"/>
              </a:spcAft>
              <a:defRPr sz="1400">
                <a:solidFill>
                  <a:srgbClr val="E0E0E8"/>
                </a:solidFill>
                <a:latin typeface="Microsoft YaHei"/>
              </a:defRPr>
            </a:pPr>
            <a:r>
              <a:t>etcd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独立算力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集群高可用特性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438912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554480"/>
            <a:ext cx="822960" cy="8229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K8s 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etcd 三副本</a:t>
            </a:r>
            <a:br/>
            <a:r>
              <a:t>任一节点故障自动选主</a:t>
            </a:r>
            <a:br/>
            <a:r>
              <a:t>Pod 自动调度迁移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51760" cy="438912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554480"/>
            <a:ext cx="822960" cy="82296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中间件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004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PG 主备自动切换</a:t>
            </a:r>
            <a:br/>
            <a:r>
              <a:t>Kafka 多 Broker</a:t>
            </a:r>
            <a:br/>
            <a:r>
              <a:t>ClickHouse 分片副本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280160"/>
            <a:ext cx="2651760" cy="438912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59" y="1554480"/>
            <a:ext cx="822960" cy="8229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GPU 独立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算力节点独立升级</a:t>
            </a:r>
            <a:br/>
            <a:r>
              <a:t>不影响业务连续性</a:t>
            </a:r>
            <a:br/>
            <a:r>
              <a:t>按需扩展 GPU 型号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280160"/>
            <a:ext cx="2651760" cy="438912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4119" y="1554480"/>
            <a:ext cx="822960" cy="82296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19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弹性扩展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2004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保留向 5-10 节点</a:t>
            </a:r>
            <a:br/>
            <a:r>
              <a:t>扩展的迁移路径</a:t>
            </a:r>
            <a:br/>
            <a:r>
              <a:t>水平扩容无中断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集群两档 SKU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D6"/>
                </a:solidFill>
                <a:latin typeface="Microsoft YaHei"/>
              </a:defRPr>
            </a:pPr>
            <a:r>
              <a:t>DTS-Cluster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¥100-200万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68880"/>
            <a:ext cx="4114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业务节点 ×2: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32C64T, 256GB RAM, 4TB NVMe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GPU 节点 ×1: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32C64T, 256GB, L40S 48GB / A800 80GB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并发 100-500 用户 | TB 级数据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70B+ 模型高速推理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B86FC"/>
                </a:solidFill>
                <a:latin typeface="Microsoft YaHei"/>
              </a:defRPr>
            </a:pPr>
            <a:r>
              <a:t>DTS-Cluster 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¥200-400万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468880"/>
            <a:ext cx="41148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业务节点 ×2: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鲲鹏920 32C, 256GB, 4TB 国产 SSD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GPU 节点 ×1: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  鲲鹏920 + 昇腾 910B, 256GB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OS: 麒麟 V10 / 统信 UOS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全栈信创目录认证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全线产品价格总览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011680" cy="3200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0116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DTS-Box</a:t>
            </a:r>
            <a:br/>
            <a:r>
              <a:t>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D6"/>
                </a:solidFill>
                <a:latin typeface="Microsoft YaHei"/>
              </a:defRPr>
            </a:pPr>
            <a:r>
              <a:t>¥10万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含首年服务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280160"/>
            <a:ext cx="2011680" cy="32004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280160"/>
            <a:ext cx="20116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5544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DTS-Box</a:t>
            </a:r>
            <a:br/>
            <a: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Microsoft YaHei"/>
              </a:defRPr>
            </a:pPr>
            <a:r>
              <a:t>¥30万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含首年服务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280160"/>
            <a:ext cx="2011680" cy="320040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280160"/>
            <a:ext cx="201168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5544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DTS-Box</a:t>
            </a:r>
            <a:br/>
            <a:r>
              <a:t>Gov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B86FC"/>
                </a:solidFill>
                <a:latin typeface="Microsoft YaHei"/>
              </a:defRPr>
            </a:pPr>
            <a:r>
              <a:t>¥45万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含首年服务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280160"/>
            <a:ext cx="2011680" cy="32004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280160"/>
            <a:ext cx="201168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5544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Cluster</a:t>
            </a:r>
            <a:br/>
            <a: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8C76F"/>
                </a:solidFill>
                <a:latin typeface="Microsoft YaHei"/>
              </a:defRPr>
            </a:pPr>
            <a:r>
              <a:t>¥100-200万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含首年服务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280160"/>
            <a:ext cx="2011680" cy="32004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280160"/>
            <a:ext cx="201168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5544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Cluster</a:t>
            </a:r>
            <a:br/>
            <a:r>
              <a:t>Gov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4D4D"/>
                </a:solidFill>
                <a:latin typeface="Microsoft YaHei"/>
              </a:defRPr>
            </a:pPr>
            <a:r>
              <a:t>¥200-400万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含首年服务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价格带分布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03520"/>
            <a:ext cx="182880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5303520"/>
            <a:ext cx="274320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30万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5303520"/>
            <a:ext cx="1828800" cy="3657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45万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5303520"/>
            <a:ext cx="1828800" cy="36576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100-200万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5303520"/>
            <a:ext cx="2011680" cy="36576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200-400万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一体机 (≤50万)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集群 (100-400万)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三种报价方式 — 按投标场景灵活选择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方式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D6"/>
                </a:solidFill>
                <a:latin typeface="Microsoft YaHei"/>
              </a:defRPr>
            </a:pPr>
            <a:r>
              <a:t>一次性买断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硬件采购费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软件永久授权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首年实施 + 维保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次年起维保费 (报价 15-20%)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适合: 有设备采购预算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买完即拥有，无后续绑定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88720"/>
            <a:ext cx="3474720" cy="50292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188720"/>
            <a:ext cx="34747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方式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C76F"/>
                </a:solidFill>
                <a:latin typeface="Microsoft YaHei"/>
              </a:defRPr>
            </a:pPr>
            <a:r>
              <a:t>硬件+订阅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硬件按成本价（可补贴）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软件年费订阅 (3-5 年锁定)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首年实施费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年费含维保 + 升级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适合: 锁定长期收入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客户初期投入低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188720"/>
            <a:ext cx="3474720" cy="50292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18872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方式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8C00"/>
                </a:solidFill>
                <a:latin typeface="Microsoft YaHei"/>
              </a:defRPr>
            </a:pPr>
            <a:r>
              <a:t>整机方案价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不拆分硬件/软件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按"AI 决策解决方案"报价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利润内含，简化流程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一张发票搞定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适合: 预算科目为"设备"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客户不关心软硬拆分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价格构成拆解（内部核算）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82880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成本项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188720"/>
            <a:ext cx="16459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234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16459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234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599" y="1188720"/>
            <a:ext cx="16459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39" y="1234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59" y="1188720"/>
            <a:ext cx="20116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399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Cluster Std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79" y="1188720"/>
            <a:ext cx="20116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Cluster Gov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20240"/>
            <a:ext cx="10698480" cy="54864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硬件成本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2-3万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8-12万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9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15-20万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30-50万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60-100万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软件授权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3-4万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10-12万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39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12-15万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399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40-80万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80-160万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10698480" cy="54864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实施部署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1-2万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3-5万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39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5-8万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399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15-30万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30-60万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9319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首年维保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9319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39319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39" y="39319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399" y="3931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19" y="3931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80560"/>
            <a:ext cx="10698480" cy="54864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毛利率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4572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~40%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4572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~40%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39" y="4572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~35%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399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~40%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19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~40%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AppPack 增值选配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51760" cy="45720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6517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能源行业包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¥15-30万/年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电力调度</a:t>
            </a:r>
            <a:br/>
            <a:r>
              <a:t>设备监控</a:t>
            </a:r>
            <a:br/>
            <a:r>
              <a:t>能耗优化</a:t>
            </a:r>
            <a:br/>
            <a:r>
              <a:t>安全预警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651760" cy="45720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5176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科研行业包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¥10-25万/年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实验管理</a:t>
            </a:r>
            <a:br/>
            <a:r>
              <a:t>数据分析</a:t>
            </a:r>
            <a:br/>
            <a:r>
              <a:t>文献智检</a:t>
            </a:r>
            <a:br/>
            <a:r>
              <a:t>科研协作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188720"/>
            <a:ext cx="2651760" cy="45720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188720"/>
            <a:ext cx="26517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制造行业包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¥15-30万/年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质量管控</a:t>
            </a:r>
            <a:br/>
            <a:r>
              <a:t>供应链决策</a:t>
            </a:r>
            <a:br/>
            <a:r>
              <a:t>生产排程</a:t>
            </a:r>
            <a:br/>
            <a:r>
              <a:t>设备预测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188720"/>
            <a:ext cx="2651760" cy="457200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1188720"/>
            <a:ext cx="265176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定制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按需报价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客户专属场景</a:t>
            </a:r>
            <a:br/>
            <a:r>
              <a:t>深度定制开发</a:t>
            </a:r>
            <a:br/>
            <a:r>
              <a:t>知识沉淀</a:t>
            </a:r>
            <a:br/>
            <a:r>
              <a:t>持续迭代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A7"/>
                </a:solidFill>
                <a:latin typeface="Microsoft YaHei"/>
              </a:defRPr>
            </a:pPr>
            <a:r>
              <a:t>AppPack 跨部署模式通用 — 一体机和集群使用同一套 Pack，迁移无需重新开发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架构迁移路径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13716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Box Lite</a:t>
            </a:r>
            <a:br/>
            <a:r>
              <a:t>¥10万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286000" cy="13716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2860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Box Pro</a:t>
            </a:r>
            <a:br/>
            <a:r>
              <a:t>¥30万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840480"/>
            <a:ext cx="2286000" cy="137160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3840480"/>
            <a:ext cx="228600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023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Box Gov</a:t>
            </a:r>
            <a:br/>
            <a:r>
              <a:t>¥45万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828800"/>
            <a:ext cx="2286000" cy="13716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828800"/>
            <a:ext cx="2286000" cy="4572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Cluster</a:t>
            </a:r>
            <a:br/>
            <a:r>
              <a:t>Standard</a:t>
            </a:r>
            <a:br/>
            <a:r>
              <a:t>¥100-200万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840480"/>
            <a:ext cx="2286000" cy="13716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840480"/>
            <a:ext cx="2286000" cy="4572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4023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Cluster</a:t>
            </a:r>
            <a:br/>
            <a:r>
              <a:t>Gov</a:t>
            </a:r>
            <a:br/>
            <a:r>
              <a:t>¥200-400万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828800"/>
            <a:ext cx="228600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5520" y="1828800"/>
            <a:ext cx="228600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大规模集群</a:t>
            </a:r>
            <a:br/>
            <a:r>
              <a:t>5-10 节点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A7"/>
                </a:solidFill>
                <a:latin typeface="Microsoft YaHei"/>
              </a:defRPr>
            </a:pPr>
            <a:r>
              <a:t>加装 GPU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A7"/>
                </a:solidFill>
                <a:latin typeface="Microsoft YaHei"/>
              </a:defRPr>
            </a:pPr>
            <a:r>
              <a:t>数据迁移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194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A7"/>
                </a:solidFill>
                <a:latin typeface="Microsoft YaHei"/>
              </a:defRPr>
            </a:pPr>
            <a:r>
              <a:t>加节点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icrosoft YaHei"/>
              </a:defRPr>
            </a:pPr>
            <a:r>
              <a:t>信创替换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icrosoft YaHei"/>
              </a:defRPr>
            </a:pPr>
            <a:r>
              <a:t>信创替换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86400"/>
            <a:ext cx="11064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迁移保障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dts-cli migrate 全量+增量同步  |  CRD 配置导出/导入  |  AppPack 跨模式通用  |  迁移前自动快照  |  失败一键回滚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架构兼容性矩阵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28600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88720"/>
            <a:ext cx="146304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234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88720"/>
            <a:ext cx="146304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188720"/>
            <a:ext cx="146304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234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19" y="1188720"/>
            <a:ext cx="201168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Cluster Std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188720"/>
            <a:ext cx="2011680" cy="5486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Cluster Gov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20240"/>
            <a:ext cx="10698480" cy="5029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93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25 微服务全栈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9933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9933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19933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1993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993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42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本地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542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542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542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2542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542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17520"/>
            <a:ext cx="10698480" cy="5029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HA 高可用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090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090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3090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59" y="3090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090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639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中间件 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59" y="3639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639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114800"/>
            <a:ext cx="10698480" cy="5029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187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信创认证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1879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1879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9" y="41879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59" y="4187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66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187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736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离线部署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736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736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79" y="4736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59" y="4736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736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212079"/>
            <a:ext cx="10698480" cy="5029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2852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AABB"/>
                </a:solidFill>
                <a:latin typeface="Microsoft YaHei"/>
              </a:defRPr>
            </a:pPr>
            <a:r>
              <a:t>AppPack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52852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2852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79" y="528523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59" y="52852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2852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交付流程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Microsoft YaHei"/>
              </a:defRPr>
            </a:pPr>
            <a:r>
              <a:t>一体机交付 — 5 天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4114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94560"/>
            <a:ext cx="137160" cy="1371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Day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硬件出厂预装 DTS + 质检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10896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到场通电 → 初始化向导 (30min)</a:t>
            </a:r>
            <a:br/>
            <a:r>
              <a:t>接入 1-2 个核心数据源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02336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931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配置行业 AppPack</a:t>
            </a:r>
            <a:br/>
            <a:r>
              <a:t>导入业务知识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37760"/>
            <a:ext cx="137160" cy="13716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846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Day 4-5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用户培训 + 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C76F"/>
                </a:solidFill>
                <a:latin typeface="Microsoft YaHei"/>
              </a:defRPr>
            </a:pPr>
            <a:r>
              <a:t>集群交付 — 10 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920240"/>
            <a:ext cx="4114800" cy="36576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2194560"/>
            <a:ext cx="137160" cy="13716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Day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硬件到场上架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2907791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81635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1635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K8s 集群初始化 (dts-cli install)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362102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5295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295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DTS 全栈部署 + HA 验证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433425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2428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3-5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4281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数据源接入 + AppPack 配置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5047488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9560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Day 6-8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9560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压力测试 + HA 故障演练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0" y="5760720"/>
            <a:ext cx="137160" cy="13716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5669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Day 9-10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用户培训 + 验收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与现有定价体系的关系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029200" cy="36576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现有三层定价（纯软件）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4114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548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Microsoft YaHei"/>
              </a:defRPr>
            </a:pPr>
            <a:r>
              <a:t>L1: 平台基础费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按部署规模，年费 30-300 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63240"/>
            <a:ext cx="73152" cy="5486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C76F"/>
                </a:solidFill>
                <a:latin typeface="Microsoft YaHei"/>
              </a:defRPr>
            </a:pPr>
            <a:r>
              <a:t>L2: AppPack 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按行业场景，独立定价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73152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Microsoft YaHei"/>
              </a:defRPr>
            </a:pPr>
            <a:r>
              <a:t>L3: 知识分润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客户知识资产，平台抽成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A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0" cy="36576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硬件捆绑定价（本方案）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011680"/>
            <a:ext cx="4114800" cy="36576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286000"/>
            <a:ext cx="73152" cy="5486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C76F"/>
                </a:solidFill>
                <a:latin typeface="Microsoft YaHei"/>
              </a:defRPr>
            </a:pPr>
            <a:r>
              <a:t>L1 → 整机报价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平台费内含在硬件捆绑价中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063240"/>
            <a:ext cx="73152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Microsoft YaHei"/>
              </a:defRPr>
            </a:pPr>
            <a:r>
              <a:t>L2 → 可选增值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AppPack 独立报价，按需选配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840480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A7"/>
                </a:solidFill>
                <a:latin typeface="Microsoft YaHei"/>
              </a:defRPr>
            </a:pPr>
            <a:r>
              <a:t>L3 → 不变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知识资产分润机制不变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64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AABB"/>
                </a:solidFill>
                <a:latin typeface="Microsoft YaHei"/>
              </a:defRPr>
            </a:pPr>
            <a:r>
              <a:t>纯软件客户: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D6"/>
                </a:solidFill>
                <a:latin typeface="Microsoft YaHei"/>
              </a:defRPr>
            </a:pPr>
            <a:r>
              <a:t>L1 + L2 + 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AABB"/>
                </a:solidFill>
                <a:latin typeface="Microsoft YaHei"/>
              </a:defRPr>
            </a:pPr>
            <a:r>
              <a:t>硬件捆绑客户: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C76F"/>
                </a:solidFill>
                <a:latin typeface="Microsoft YaHei"/>
              </a:defRPr>
            </a:pPr>
            <a:r>
              <a:t>整机价 (含 L1) + L2 (可选) + L3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硬件合作模式（待定）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3200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OEM 贴牌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品牌统一，利润高</a:t>
            </a:r>
            <a:br/>
            <a:r>
              <a:t>库存风险大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规模化阶段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51760" cy="32004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265176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渠道合作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轻资产，借力渠道</a:t>
            </a:r>
            <a:br/>
            <a:r>
              <a:t>利润分薄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快速扩张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280160"/>
            <a:ext cx="2651760" cy="32004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280160"/>
            <a:ext cx="26517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BOM 认证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最灵活，零库存</a:t>
            </a:r>
            <a:br/>
            <a:r>
              <a:t>交付一致性难控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早期验证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280160"/>
            <a:ext cx="2651760" cy="320040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1280160"/>
            <a:ext cx="265176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混合模式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按需灵活组合</a:t>
            </a:r>
            <a:br/>
            <a:r>
              <a:t>管理较复杂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成熟阶段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1064240" cy="13716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当前策略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8"/>
                </a:solidFill>
                <a:latin typeface="Microsoft YaHei"/>
              </a:defRPr>
            </a:pPr>
            <a:r>
              <a:t>先以 BOM 认证清单模式启动，积累交付案例后再考虑 OEM / 渠道合作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方案总结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12801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173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5 个 SKU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覆盖 10 万 → 400 万全价格带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80160"/>
            <a:ext cx="53949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280160"/>
            <a:ext cx="73152" cy="128016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4173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2 种形态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一体机（塔式/机架）+ 三节点集群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39"/>
            <a:ext cx="53949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34639"/>
            <a:ext cx="73152" cy="1280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9717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3 种报价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4289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买断 / 订阅 / 整机方案价，灵活投标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834639"/>
            <a:ext cx="53949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2834639"/>
            <a:ext cx="73152" cy="12801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29717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Microsoft YaHei"/>
              </a:defRPr>
            </a:pPr>
            <a:r>
              <a:t>信创全覆盖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4289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国产 CPU + GPU + OS，信创目录认证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53949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73152" cy="12801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Microsoft YaHei"/>
              </a:defRPr>
            </a:pPr>
            <a:r>
              <a:t>平滑迁移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983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Lite → Pro → Cluster，数据零丢失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389120"/>
            <a:ext cx="539496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4389120"/>
            <a:ext cx="73152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开箱即用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983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一体机 Day 1 部署 &lt; 1 小时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DTS — 让每一个决策都有数字孪生  |  软硬一体，开箱即用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